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630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88952" cy="14630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60320" y="2944368"/>
            <a:ext cx="7068312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4206240"/>
            <a:ext cx="7068312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HOUSE PRICE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29968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A0AEF5"/>
                </a:solidFill>
              </a:rPr>
              <a:t>End-to-End Machine Learning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54096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A0AEF5"/>
                </a:solidFill>
              </a:rPr>
              <a:t>Data Engineering  ·  Feature Engineering  ·  ML Model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56616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A0AEF5"/>
                </a:solidFill>
              </a:rPr>
              <a:t>FastAPI Backend  ·  PostgreSQL  ·  Live Streamlit 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5780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8899BB"/>
                </a:solidFill>
              </a:rPr>
              <a:t>Group Project  |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F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Project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76656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0AEF5"/>
                </a:solidFill>
              </a:rPr>
              <a:t>What we built and why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5806440" cy="5358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335024"/>
            <a:ext cx="54864" cy="137160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31673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34E"/>
                </a:solidFill>
              </a:rPr>
              <a:t>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19072"/>
            <a:ext cx="5394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82838"/>
                </a:solidFill>
              </a:rPr>
              <a:t>Predict US house prices for any address using a production-quality ML pipeline backed by real US government data APIs — fully free, fully generalisable nationally.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651760"/>
            <a:ext cx="54864" cy="3703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63347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34E"/>
                </a:solidFill>
              </a:rPr>
              <a:t>Project 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072384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82838"/>
                </a:solidFill>
              </a:rPr>
              <a:t>  •  22,098 training rows — King County WA + Ames Iowa datasets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49300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82838"/>
                </a:solidFill>
              </a:rPr>
              <a:t>  •  16-feature optimised model (property + census + school signals)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91363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82838"/>
                </a:solidFill>
              </a:rPr>
              <a:t>  •  FastAPI REST backend with 7 Alembic database migrations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433425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82838"/>
                </a:solidFill>
              </a:rPr>
              <a:t>  •  Streamlit live dashboard deployed on Render.com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4754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82838"/>
                </a:solidFill>
              </a:rPr>
              <a:t>  •  30,379 national ZIP centroid neighbourhood scorer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" y="5175504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82838"/>
                </a:solidFill>
              </a:rPr>
              <a:t>  •  92 automated tests passing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73952" y="1261872"/>
            <a:ext cx="5413248" cy="5358384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316736"/>
            <a:ext cx="54132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667EEA"/>
                </a:solidFill>
              </a:rPr>
              <a:t>KEY METRICS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47104" y="1773936"/>
            <a:ext cx="2523744" cy="1389888"/>
          </a:xfrm>
          <a:prstGeom prst="rect">
            <a:avLst/>
          </a:prstGeom>
          <a:solidFill>
            <a:srgbClr val="22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1856231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0AEF5"/>
                </a:solidFill>
              </a:rPr>
              <a:t>R² Score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139696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00" b="1" i="0">
                <a:solidFill>
                  <a:srgbClr val="FFFFFF"/>
                </a:solidFill>
              </a:rPr>
              <a:t>0.9266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6" y="2834639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8899BB"/>
                </a:solidFill>
              </a:rPr>
              <a:t>92.66% test accuracy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17152" y="1773936"/>
            <a:ext cx="2523744" cy="1389888"/>
          </a:xfrm>
          <a:prstGeom prst="rect">
            <a:avLst/>
          </a:prstGeom>
          <a:solidFill>
            <a:srgbClr val="22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8" y="1856231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0AEF5"/>
                </a:solidFill>
              </a:rPr>
              <a:t>MAE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5168" y="2139696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00" b="1" i="0">
                <a:solidFill>
                  <a:srgbClr val="FFFFFF"/>
                </a:solidFill>
              </a:rPr>
              <a:t>$16,574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0304" y="2834639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8899BB"/>
                </a:solidFill>
              </a:rPr>
              <a:t>Mean absolute error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47104" y="3346704"/>
            <a:ext cx="2523744" cy="1389888"/>
          </a:xfrm>
          <a:prstGeom prst="rect">
            <a:avLst/>
          </a:prstGeom>
          <a:solidFill>
            <a:srgbClr val="22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3429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0AEF5"/>
                </a:solidFill>
              </a:rPr>
              <a:t>RMSE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712464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00" b="1" i="0">
                <a:solidFill>
                  <a:srgbClr val="FFFFFF"/>
                </a:solidFill>
              </a:rPr>
              <a:t>$20,904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0256" y="440740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8899BB"/>
                </a:solidFill>
              </a:rPr>
              <a:t>Root mean sq. error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17152" y="3346704"/>
            <a:ext cx="2523744" cy="1389888"/>
          </a:xfrm>
          <a:prstGeom prst="rect">
            <a:avLst/>
          </a:prstGeom>
          <a:solidFill>
            <a:srgbClr val="22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45168" y="3429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0AEF5"/>
                </a:solidFill>
              </a:rPr>
              <a:t>Features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5168" y="3712464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00" b="1" i="0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90304" y="440740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8899BB"/>
                </a:solidFill>
              </a:rPr>
              <a:t>Optimised model inputs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47104" y="4919472"/>
            <a:ext cx="2523744" cy="1389888"/>
          </a:xfrm>
          <a:prstGeom prst="rect">
            <a:avLst/>
          </a:prstGeom>
          <a:solidFill>
            <a:srgbClr val="22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0" y="5001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0AEF5"/>
                </a:solidFill>
              </a:rPr>
              <a:t>Tests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285232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00" b="1" i="0">
                <a:solidFill>
                  <a:srgbClr val="FFFFFF"/>
                </a:solidFill>
              </a:rPr>
              <a:t>92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0256" y="598017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8899BB"/>
                </a:solidFill>
              </a:rPr>
              <a:t>Automated tests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7152" y="4919472"/>
            <a:ext cx="2523744" cy="1389888"/>
          </a:xfrm>
          <a:prstGeom prst="rect">
            <a:avLst/>
          </a:prstGeom>
          <a:solidFill>
            <a:srgbClr val="22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45168" y="5001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0AEF5"/>
                </a:solidFill>
              </a:rPr>
              <a:t>ZCTAs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45168" y="5285232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00" b="1" i="0">
                <a:solidFill>
                  <a:srgbClr val="FFFFFF"/>
                </a:solidFill>
              </a:rPr>
              <a:t>30,379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90304" y="598017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8899BB"/>
                </a:solidFill>
              </a:rPr>
              <a:t>National ZIP coverage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F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Problem &amp; Our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76656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0AEF5"/>
                </a:solidFill>
              </a:rPr>
              <a:t>Why house price prediction is hard — and how we solved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5577840" cy="5358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4E"/>
                </a:solidFill>
              </a:rPr>
              <a:t>Challenges We Addressed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" y="1856231"/>
            <a:ext cx="137160" cy="329184"/>
          </a:xfrm>
          <a:prstGeom prst="rect">
            <a:avLst/>
          </a:prstGeom>
          <a:solidFill>
            <a:srgbClr val="BD3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1051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82838"/>
                </a:solidFill>
              </a:rPr>
              <a:t>Fragmented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84831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77"/>
                </a:solidFill>
              </a:rPr>
              <a:t>No single dataset covers all US markets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" y="2514599"/>
            <a:ext cx="137160" cy="329184"/>
          </a:xfrm>
          <a:prstGeom prst="rect">
            <a:avLst/>
          </a:prstGeom>
          <a:solidFill>
            <a:srgbClr val="BD3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688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82838"/>
                </a:solidFill>
              </a:rPr>
              <a:t>Paid API lock-in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743199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77"/>
                </a:solidFill>
              </a:rPr>
              <a:t>Most geocoding &amp; property APIs require paid keys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" y="3172968"/>
            <a:ext cx="137160" cy="329184"/>
          </a:xfrm>
          <a:prstGeom prst="rect">
            <a:avLst/>
          </a:prstGeom>
          <a:solidFill>
            <a:srgbClr val="BD3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1272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82838"/>
                </a:solidFill>
              </a:rPr>
              <a:t>Local overfitting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01568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77"/>
                </a:solidFill>
              </a:rPr>
              <a:t>KC OHE 'Neighborhood' (74 cols) = zero signal nationally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" y="3831336"/>
            <a:ext cx="137160" cy="329184"/>
          </a:xfrm>
          <a:prstGeom prst="rect">
            <a:avLst/>
          </a:prstGeom>
          <a:solidFill>
            <a:srgbClr val="BD3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856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82838"/>
                </a:solidFill>
              </a:rPr>
              <a:t>Neighbourhood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059936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77"/>
                </a:solidFill>
              </a:rPr>
              <a:t>Hard to quantify local market context objectively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624" y="4489704"/>
            <a:ext cx="137160" cy="329184"/>
          </a:xfrm>
          <a:prstGeom prst="rect">
            <a:avLst/>
          </a:prstGeom>
          <a:solidFill>
            <a:srgbClr val="BD3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44398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82838"/>
                </a:solidFill>
              </a:rPr>
              <a:t>API reliability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18304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77"/>
                </a:solidFill>
              </a:rPr>
              <a:t>Geocoders time-out; Census API has latency spikes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0624" y="5148072"/>
            <a:ext cx="137160" cy="329184"/>
          </a:xfrm>
          <a:prstGeom prst="rect">
            <a:avLst/>
          </a:prstGeom>
          <a:solidFill>
            <a:srgbClr val="BD3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10235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82838"/>
                </a:solidFill>
              </a:rPr>
              <a:t>Schema drift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376672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77"/>
                </a:solidFill>
              </a:rPr>
              <a:t>DB auto-create diverged from migration → 500 errors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6208" y="1261872"/>
            <a:ext cx="5650992" cy="5358384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1316736"/>
            <a:ext cx="5650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667EEA"/>
                </a:solidFill>
              </a:rPr>
              <a:t>DATA SOURCES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27648" y="1792224"/>
            <a:ext cx="5449824" cy="658368"/>
          </a:xfrm>
          <a:prstGeom prst="rect">
            <a:avLst/>
          </a:prstGeom>
          <a:solidFill>
            <a:srgbClr val="22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86537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King County WA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3952" y="213969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0AEF5"/>
                </a:solidFill>
              </a:rPr>
              <a:t>21,598 rows — historic MLS sales 2014-2015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27648" y="2578608"/>
            <a:ext cx="5449824" cy="658368"/>
          </a:xfrm>
          <a:prstGeom prst="rect">
            <a:avLst/>
          </a:prstGeom>
          <a:solidFill>
            <a:srgbClr val="22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3952" y="26517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Ames, Iowa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2" y="2926079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0AEF5"/>
                </a:solidFill>
              </a:rPr>
              <a:t>500 rows — academic benchmark dataset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27648" y="3364991"/>
            <a:ext cx="5449824" cy="658368"/>
          </a:xfrm>
          <a:prstGeom prst="rect">
            <a:avLst/>
          </a:prstGeom>
          <a:solidFill>
            <a:srgbClr val="22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73952" y="343814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US Census ACS5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73952" y="3712463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0AEF5"/>
                </a:solidFill>
              </a:rPr>
              <a:t>Tract income, home value, occupancy rate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27648" y="4151376"/>
            <a:ext cx="5449824" cy="658368"/>
          </a:xfrm>
          <a:prstGeom prst="rect">
            <a:avLst/>
          </a:prstGeom>
          <a:solidFill>
            <a:srgbClr val="22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73952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Nominatim OSM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73952" y="449884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0AEF5"/>
                </a:solidFill>
              </a:rPr>
              <a:t>Free geocoding (address → lat/lon)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27648" y="4937760"/>
            <a:ext cx="5449824" cy="658368"/>
          </a:xfrm>
          <a:prstGeom prst="rect">
            <a:avLst/>
          </a:prstGeom>
          <a:solidFill>
            <a:srgbClr val="22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3952" y="501091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FCC API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73952" y="528523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0AEF5"/>
                </a:solidFill>
              </a:rPr>
              <a:t>Census tract lookup from coordinates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27648" y="5724144"/>
            <a:ext cx="5449824" cy="658368"/>
          </a:xfrm>
          <a:prstGeom prst="rect">
            <a:avLst/>
          </a:prstGeom>
          <a:solidFill>
            <a:srgbClr val="22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73952" y="579729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ZCTA centroids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73952" y="607161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0AEF5"/>
                </a:solidFill>
              </a:rPr>
              <a:t>30,379 national ZIP centroids for KNN scorer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F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Feature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76656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0AEF5"/>
                </a:solidFill>
              </a:rPr>
              <a:t>From raw address → 16 model-ready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7818120" cy="5358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35024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4E"/>
                </a:solidFill>
              </a:rPr>
              <a:t>Feature Importance — Top 10  (87.5% cumulative)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92224"/>
            <a:ext cx="3072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2838"/>
                </a:solidFill>
              </a:rPr>
              <a:t>GrLivArea — Above-ground living area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8144" y="1856231"/>
            <a:ext cx="3130997" cy="23774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60581" y="1828800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82838"/>
                </a:solidFill>
              </a:rPr>
              <a:t>14.1%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31136"/>
            <a:ext cx="3072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2838"/>
                </a:solidFill>
              </a:rPr>
              <a:t>LotArea — Total lot size (sq ft)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38144" y="2295144"/>
            <a:ext cx="2403683" cy="23774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33267" y="2267712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82838"/>
                </a:solidFill>
              </a:rPr>
              <a:t>10.8%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70048"/>
            <a:ext cx="3072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2838"/>
                </a:solidFill>
              </a:rPr>
              <a:t>MedianIncome — Census ACS5 tract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38144" y="2734056"/>
            <a:ext cx="2397031" cy="237744"/>
          </a:xfrm>
          <a:prstGeom prst="rect">
            <a:avLst/>
          </a:prstGeom>
          <a:solidFill>
            <a:srgbClr val="0E8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26615" y="2706624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82838"/>
                </a:solidFill>
              </a:rPr>
              <a:t>10.8%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108960"/>
            <a:ext cx="3072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2838"/>
                </a:solidFill>
              </a:rPr>
              <a:t>UnemploymentRate — Census ACS5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38144" y="3172968"/>
            <a:ext cx="2388161" cy="237744"/>
          </a:xfrm>
          <a:prstGeom prst="rect">
            <a:avLst/>
          </a:prstGeom>
          <a:solidFill>
            <a:srgbClr val="0E8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17745" y="314553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82838"/>
                </a:solidFill>
              </a:rPr>
              <a:t>10.8%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547872"/>
            <a:ext cx="3072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2838"/>
                </a:solidFill>
              </a:rPr>
              <a:t>SchoolDistrictRating — Derived score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38144" y="3611879"/>
            <a:ext cx="1951329" cy="237744"/>
          </a:xfrm>
          <a:prstGeom prst="rect">
            <a:avLst/>
          </a:prstGeom>
          <a:solidFill>
            <a:srgbClr val="D47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0913" y="358444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82838"/>
                </a:solidFill>
              </a:rPr>
              <a:t>8.8%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986783"/>
            <a:ext cx="3072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2838"/>
                </a:solidFill>
              </a:rPr>
              <a:t>GarageArea — Garage square feet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38144" y="4050791"/>
            <a:ext cx="1944677" cy="23774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74261" y="4023359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82838"/>
                </a:solidFill>
              </a:rPr>
              <a:t>8.8%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425696"/>
            <a:ext cx="3072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2838"/>
                </a:solidFill>
              </a:rPr>
              <a:t>YearBuilt — Construction year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38144" y="4489704"/>
            <a:ext cx="1496758" cy="23774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6342" y="4462272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82838"/>
                </a:solidFill>
              </a:rPr>
              <a:t>6.8%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864608"/>
            <a:ext cx="3072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2838"/>
                </a:solidFill>
              </a:rPr>
              <a:t>YearRemodAdd — Last renovation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38144" y="4928616"/>
            <a:ext cx="1474584" cy="23774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4168" y="4901184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82838"/>
                </a:solidFill>
              </a:rPr>
              <a:t>6.7%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303520"/>
            <a:ext cx="3072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2838"/>
                </a:solidFill>
              </a:rPr>
              <a:t>OverallQual — Build quality (1-10)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38144" y="5367528"/>
            <a:ext cx="1474584" cy="23774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04168" y="534009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82838"/>
                </a:solidFill>
              </a:rPr>
              <a:t>6.7%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742432"/>
            <a:ext cx="3072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2838"/>
                </a:solidFill>
              </a:rPr>
              <a:t>TotRmsAbvGrd — Total rooms above grade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38144" y="5806440"/>
            <a:ext cx="727313" cy="23774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56897" y="577900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82838"/>
                </a:solidFill>
              </a:rPr>
              <a:t>3.3%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30768" y="1261872"/>
            <a:ext cx="3456432" cy="2505456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30768" y="1316736"/>
            <a:ext cx="3456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7EEA"/>
                </a:solidFill>
              </a:rPr>
              <a:t>FEATURE CATEGORIES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85632" y="1773936"/>
            <a:ext cx="3328416" cy="109728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85632" y="1920240"/>
            <a:ext cx="3328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Property / Structural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85632" y="2176272"/>
            <a:ext cx="33284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AEF5"/>
                </a:solidFill>
              </a:rPr>
              <a:t>13 feat  —  54.1% importance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85632" y="2432304"/>
            <a:ext cx="3328416" cy="109728"/>
          </a:xfrm>
          <a:prstGeom prst="rect">
            <a:avLst/>
          </a:prstGeom>
          <a:solidFill>
            <a:srgbClr val="0E8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85632" y="2578608"/>
            <a:ext cx="3328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Census Economic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85632" y="2834640"/>
            <a:ext cx="33284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AEF5"/>
                </a:solidFill>
              </a:rPr>
              <a:t>2 feat   —  21.6% importance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485632" y="3090672"/>
            <a:ext cx="3328416" cy="109728"/>
          </a:xfrm>
          <a:prstGeom prst="rect">
            <a:avLst/>
          </a:prstGeom>
          <a:solidFill>
            <a:srgbClr val="D47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85632" y="3236976"/>
            <a:ext cx="3328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School District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85632" y="3493008"/>
            <a:ext cx="33284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AEF5"/>
                </a:solidFill>
              </a:rPr>
              <a:t>1 feat   —   8.8% importance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30768" y="3858768"/>
            <a:ext cx="3456432" cy="2761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58784" y="3913632"/>
            <a:ext cx="32552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34E"/>
                </a:solidFill>
              </a:rPr>
              <a:t>ENGINEERED FEATURES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58784" y="4315968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82838"/>
                </a:solidFill>
              </a:rPr>
              <a:t>• Age = 2026 − YearBuilt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58784" y="4681728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82838"/>
                </a:solidFill>
              </a:rPr>
              <a:t>• TotalSF = GrLivArea + BasementSF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58784" y="5047488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82838"/>
                </a:solidFill>
              </a:rPr>
              <a:t>• TotalBath = FullBath + 0.5 × HalfBath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58784" y="5413248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82838"/>
                </a:solidFill>
              </a:rPr>
              <a:t>• QualArea = OverallQual × GrLivArea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58784" y="5779008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82838"/>
                </a:solidFill>
              </a:rPr>
              <a:t>• log(LotArea) — reduces right skew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58784" y="6144768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82838"/>
                </a:solidFill>
              </a:rPr>
              <a:t>• p99 price cap — removes ~216 outliers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F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Model Development &amp; Selection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76656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0AEF5"/>
                </a:solidFill>
              </a:rPr>
              <a:t>Systematic progression from baseline to production-ready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7333488" cy="5358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7059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4E"/>
                </a:solidFill>
              </a:rPr>
              <a:t>Model Progression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1792224"/>
            <a:ext cx="7278624" cy="36576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828800"/>
            <a:ext cx="1060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Phase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23408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Key 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58768" y="1828800"/>
            <a:ext cx="786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# Feats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182880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Test R²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552" y="182880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MAE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1828800"/>
            <a:ext cx="11704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" y="2194560"/>
            <a:ext cx="7278624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2359152"/>
            <a:ext cx="10607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82838"/>
                </a:solidFill>
              </a:rPr>
              <a:t>Baseline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359152"/>
            <a:ext cx="23408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82838"/>
                </a:solidFill>
              </a:rPr>
              <a:t>Random Forest, 13 property features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58768" y="2359152"/>
            <a:ext cx="7863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82838"/>
                </a:solidFill>
              </a:rPr>
              <a:t>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1728" y="2359152"/>
            <a:ext cx="8412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82838"/>
                </a:solidFill>
              </a:rPr>
              <a:t>0.917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9552" y="2359152"/>
            <a:ext cx="8412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82838"/>
                </a:solidFill>
              </a:rPr>
              <a:t>$43k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7376" y="2359152"/>
            <a:ext cx="117043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82838"/>
                </a:solidFill>
              </a:rPr>
              <a:t>Initial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" y="2999232"/>
            <a:ext cx="7278624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163824"/>
            <a:ext cx="10607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82838"/>
                </a:solidFill>
              </a:rPr>
              <a:t>Phase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3163824"/>
            <a:ext cx="23408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82838"/>
                </a:solidFill>
              </a:rPr>
              <a:t>+ School District Rating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8768" y="3163824"/>
            <a:ext cx="7863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82838"/>
                </a:solidFill>
              </a:rPr>
              <a:t>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1728" y="3163824"/>
            <a:ext cx="8412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82838"/>
                </a:solidFill>
              </a:rPr>
              <a:t>0.920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59552" y="3163824"/>
            <a:ext cx="8412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82838"/>
                </a:solidFill>
              </a:rPr>
              <a:t>$38k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37376" y="3163824"/>
            <a:ext cx="117043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7AE60"/>
                </a:solidFill>
              </a:rPr>
              <a:t>Better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" y="3803904"/>
            <a:ext cx="7278624" cy="749808"/>
          </a:xfrm>
          <a:prstGeom prst="rect">
            <a:avLst/>
          </a:prstGeom>
          <a:solidFill>
            <a:srgbClr val="DFF5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3968496"/>
            <a:ext cx="10607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82838"/>
                </a:solidFill>
              </a:rPr>
              <a:t>Phase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3968496"/>
            <a:ext cx="23408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82838"/>
                </a:solidFill>
              </a:rPr>
              <a:t>+ Census MedianIncome + UnemployRate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58768" y="3968496"/>
            <a:ext cx="7863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82838"/>
                </a:solidFill>
              </a:rPr>
              <a:t>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1728" y="3968496"/>
            <a:ext cx="8412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82838"/>
                </a:solidFill>
              </a:rPr>
              <a:t>0.9266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59552" y="3968496"/>
            <a:ext cx="8412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82838"/>
                </a:solidFill>
              </a:rPr>
              <a:t>$16.6k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37376" y="3968496"/>
            <a:ext cx="117043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7A3A"/>
                </a:solidFill>
              </a:rPr>
              <a:t>OPTIMAL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4608576"/>
            <a:ext cx="7278624" cy="749808"/>
          </a:xfrm>
          <a:prstGeom prst="rect">
            <a:avLst/>
          </a:prstGeom>
          <a:solidFill>
            <a:srgbClr val="FB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4048" y="4773168"/>
            <a:ext cx="10607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82838"/>
                </a:solidFill>
              </a:rPr>
              <a:t>Phase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81328" y="4773168"/>
            <a:ext cx="23408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82838"/>
                </a:solidFill>
              </a:rPr>
              <a:t>+ RenterOccupied (tested only)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58768" y="4773168"/>
            <a:ext cx="7863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82838"/>
                </a:solidFill>
              </a:rPr>
              <a:t>17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81728" y="4773168"/>
            <a:ext cx="8412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82838"/>
                </a:solidFill>
              </a:rPr>
              <a:t>0.9258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59552" y="4773168"/>
            <a:ext cx="8412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82838"/>
                </a:solidFill>
              </a:rPr>
              <a:t>$17k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37376" y="4773168"/>
            <a:ext cx="117043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BD3528"/>
                </a:solidFill>
              </a:rPr>
              <a:t>Overfit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72" y="5413248"/>
            <a:ext cx="7278624" cy="749808"/>
          </a:xfrm>
          <a:prstGeom prst="rect">
            <a:avLst/>
          </a:prstGeom>
          <a:solidFill>
            <a:srgbClr val="EB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4048" y="5577840"/>
            <a:ext cx="10607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82838"/>
                </a:solidFill>
              </a:rPr>
              <a:t>Production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81328" y="5577840"/>
            <a:ext cx="23408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82838"/>
                </a:solidFill>
              </a:rPr>
              <a:t>LightGBM 645-est Huber, 22 features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58768" y="5577840"/>
            <a:ext cx="7863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82838"/>
                </a:solidFill>
              </a:rPr>
              <a:t>22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1728" y="5577840"/>
            <a:ext cx="8412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82838"/>
                </a:solidFill>
              </a:rPr>
              <a:t>0.879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59552" y="5577840"/>
            <a:ext cx="8412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82838"/>
                </a:solidFill>
              </a:rPr>
              <a:t>$62k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37376" y="5577840"/>
            <a:ext cx="117043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E886E"/>
                </a:solidFill>
              </a:rPr>
              <a:t>Live API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973568" y="1261872"/>
            <a:ext cx="3913632" cy="2450592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19872" y="1316736"/>
            <a:ext cx="36210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667EEA"/>
                </a:solidFill>
              </a:rPr>
              <a:t>ALGORITHMS TRIED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19872" y="1792224"/>
            <a:ext cx="3621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Random Forest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19872" y="2048256"/>
            <a:ext cx="36210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0AEF5"/>
                </a:solidFill>
              </a:rPr>
              <a:t>Baseline — scale-invariant, interpretable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19872" y="2286000"/>
            <a:ext cx="3621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LightGBM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19872" y="2542032"/>
            <a:ext cx="36210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0AEF5"/>
                </a:solidFill>
              </a:rPr>
              <a:t>Production — gradient boost, fast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19872" y="2779776"/>
            <a:ext cx="3621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Ridge Regression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19872" y="3035808"/>
            <a:ext cx="36210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0AEF5"/>
                </a:solidFill>
              </a:rPr>
              <a:t>Linear benchmark for non-linearity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19872" y="3273552"/>
            <a:ext cx="3621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Feature Ablation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19872" y="3529584"/>
            <a:ext cx="36210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0AEF5"/>
                </a:solidFill>
              </a:rPr>
              <a:t>Systematic importance &amp; overfit checks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973568" y="3840480"/>
            <a:ext cx="3913632" cy="2779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01583" y="3895344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4E"/>
                </a:solidFill>
              </a:rPr>
              <a:t>KEY DESIGN DECISIONS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01583" y="4315968"/>
            <a:ext cx="3730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82838"/>
                </a:solidFill>
              </a:rPr>
              <a:t>• Removed KC 'Neighborhood' OHE (74 cols, zero national signal)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01583" y="4736592"/>
            <a:ext cx="3730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82838"/>
                </a:solidFill>
              </a:rPr>
              <a:t>• p99 price cap removes ~216 ultra-luxury outliers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3" y="5157216"/>
            <a:ext cx="3730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82838"/>
                </a:solidFill>
              </a:rPr>
              <a:t>• Early stopping: 645 optimal estimators (was 1500)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3" y="5577840"/>
            <a:ext cx="3730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82838"/>
                </a:solidFill>
              </a:rPr>
              <a:t>• Huber objective (α=0.9) — robust to residual outliers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101583" y="5998464"/>
            <a:ext cx="3730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82838"/>
                </a:solidFill>
              </a:rPr>
              <a:t>• SimpleImputer preserves census slots for live retrain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F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76656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0AEF5"/>
                </a:solidFill>
              </a:rPr>
              <a:t>Request-to-prediction pipeline with full observability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" y="2651760"/>
            <a:ext cx="1828800" cy="9692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2715768"/>
            <a:ext cx="16642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Client
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127248"/>
            <a:ext cx="166420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Address input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22576" y="2432304"/>
            <a:ext cx="1920240" cy="1188720"/>
          </a:xfrm>
          <a:prstGeom prst="rect">
            <a:avLst/>
          </a:prstGeom>
          <a:solidFill>
            <a:srgbClr val="0E8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14016" y="2496312"/>
            <a:ext cx="1755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Geocoding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4016" y="2907792"/>
            <a:ext cx="175564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Nominatim + FCC
lat/lon + 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53712" y="2432304"/>
            <a:ext cx="1993392" cy="1188720"/>
          </a:xfrm>
          <a:prstGeom prst="rect">
            <a:avLst/>
          </a:prstGeom>
          <a:solidFill>
            <a:srgbClr val="D47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249631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Feature
Assembly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290779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Census ACS5
+ KNN scorer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0" y="2432304"/>
            <a:ext cx="1920240" cy="1188720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2496312"/>
            <a:ext cx="1755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ML Inference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2907792"/>
            <a:ext cx="175564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LightGBM
22 features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07424" y="2651760"/>
            <a:ext cx="2834640" cy="969264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98864" y="2715768"/>
            <a:ext cx="2670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API
Response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864" y="3127248"/>
            <a:ext cx="267004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Price + audit
+ policy meta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9696" y="2816352"/>
            <a:ext cx="256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34E"/>
                </a:solidFill>
              </a:rPr>
              <a:t>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0832" y="2816352"/>
            <a:ext cx="256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34E"/>
                </a:solidFill>
              </a:rP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2816352"/>
            <a:ext cx="256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34E"/>
                </a:solidFill>
              </a:rPr>
              <a:t>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2816352"/>
            <a:ext cx="256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34E"/>
                </a:solidFill>
              </a:rPr>
              <a:t>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858768"/>
            <a:ext cx="11539728" cy="877824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02336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PostgreSQL / SQLite  ·  SQLAlchemy ORM  ·  7 Alembic Migrations  ·  Prediction Reuse Cache  ·  Workflow Events Log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4901184"/>
            <a:ext cx="5541264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4956048"/>
            <a:ext cx="53583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4E"/>
                </a:solidFill>
              </a:rPr>
              <a:t>Feature Policy Engine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" y="5321808"/>
            <a:ext cx="53583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2838"/>
                </a:solidFill>
              </a:rPr>
              <a:t>3 profiles: balanced-v1  ·  quality-first-v1  ·  land-first-v1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" y="5614416"/>
            <a:ext cx="53583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2838"/>
                </a:solidFill>
              </a:rPr>
              <a:t>Per-request policy override  ·  State-targeted routing  ·  422 on unknown policy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" y="5907024"/>
            <a:ext cx="53583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2838"/>
                </a:solidFill>
              </a:rPr>
              <a:t>Policy metadata surfaced in every prediction response + governance audit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4901184"/>
            <a:ext cx="5724144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91072" y="4956048"/>
            <a:ext cx="55412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4E"/>
                </a:solidFill>
              </a:rPr>
              <a:t>Provider Resilience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91072" y="5321808"/>
            <a:ext cx="5541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2838"/>
                </a:solidFill>
              </a:rPr>
              <a:t>Retry budget + NonRetryableProviderError short-circuit for fast fail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1072" y="5614416"/>
            <a:ext cx="5541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2838"/>
                </a:solidFill>
              </a:rPr>
              <a:t>Default timeout 8 s  ·  Heuristic fallback when Census unavailable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1072" y="5907024"/>
            <a:ext cx="5541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2838"/>
                </a:solidFill>
              </a:rPr>
              <a:t>Nominatim city/state fallback on no-match results (was 502 error)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F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FastAPI 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76656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0AEF5"/>
                </a:solidFill>
              </a:rPr>
              <a:t>Production-grade REST API with observability built-in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43584"/>
            <a:ext cx="5961888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16736"/>
            <a:ext cx="5687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4E"/>
                </a:solidFill>
              </a:rPr>
              <a:t>REST Endpoints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" y="1801368"/>
            <a:ext cx="621792" cy="310896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182880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792224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82838"/>
                </a:solidFill>
              </a:rPr>
              <a:t>/v1/predictions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075688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66677"/>
                </a:solidFill>
              </a:rPr>
              <a:t>Predict price from address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" y="2295144"/>
            <a:ext cx="621792" cy="310896"/>
          </a:xfrm>
          <a:prstGeom prst="rect">
            <a:avLst/>
          </a:prstGeom>
          <a:solidFill>
            <a:srgbClr val="0E8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" y="2322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28600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82838"/>
                </a:solidFill>
              </a:rPr>
              <a:t>/v1/predictions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69464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66677"/>
                </a:solidFill>
              </a:rPr>
              <a:t>List recent predictions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" y="2788920"/>
            <a:ext cx="621792" cy="310896"/>
          </a:xfrm>
          <a:prstGeom prst="rect">
            <a:avLst/>
          </a:prstGeom>
          <a:solidFill>
            <a:srgbClr val="0E8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0624" y="281635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779776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82838"/>
                </a:solidFill>
              </a:rPr>
              <a:t>/v1/predictions/{id}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0632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66677"/>
                </a:solidFill>
              </a:rPr>
              <a:t>Full detail + feature vector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624" y="3282696"/>
            <a:ext cx="621792" cy="310896"/>
          </a:xfrm>
          <a:prstGeom prst="rect">
            <a:avLst/>
          </a:prstGeom>
          <a:solidFill>
            <a:srgbClr val="0E8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" y="331012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73552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82838"/>
                </a:solidFill>
              </a:rPr>
              <a:t>/v1/predictions/{id}/events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557016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66677"/>
                </a:solidFill>
              </a:rPr>
              <a:t>Workflow audit trace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" y="3776472"/>
            <a:ext cx="621792" cy="310896"/>
          </a:xfrm>
          <a:prstGeom prst="rect">
            <a:avLst/>
          </a:prstGeom>
          <a:solidFill>
            <a:srgbClr val="D47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4" y="38039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3767328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82838"/>
                </a:solidFill>
              </a:rPr>
              <a:t>/v1/dashboard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4050791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66677"/>
                </a:solidFill>
              </a:rPr>
              <a:t>Live metrics snapshot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0624" y="4270248"/>
            <a:ext cx="621792" cy="310896"/>
          </a:xfrm>
          <a:prstGeom prst="rect">
            <a:avLst/>
          </a:prstGeom>
          <a:solidFill>
            <a:srgbClr val="D47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0624" y="429768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4261104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82838"/>
                </a:solidFill>
              </a:rPr>
              <a:t>/v1/health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4544568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66677"/>
                </a:solidFill>
              </a:rPr>
              <a:t>Service + model health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0624" y="4764024"/>
            <a:ext cx="621792" cy="310896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0624" y="479145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475488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82838"/>
                </a:solidFill>
              </a:rPr>
              <a:t>/v1/policies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038344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66677"/>
                </a:solidFill>
              </a:rPr>
              <a:t>Feature policy catalog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0624" y="5257800"/>
            <a:ext cx="621792" cy="310896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" y="528523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5248656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82838"/>
                </a:solidFill>
              </a:rPr>
              <a:t>/v1/policies/simulate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" y="55321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66677"/>
                </a:solidFill>
              </a:rPr>
              <a:t>Compare policy outcomes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0624" y="5751576"/>
            <a:ext cx="621792" cy="310896"/>
          </a:xfrm>
          <a:prstGeom prst="rect">
            <a:avLst/>
          </a:prstGeom>
          <a:solidFill>
            <a:srgbClr val="BD3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0624" y="57790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5742432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82838"/>
                </a:solidFill>
              </a:rPr>
              <a:t>/v1/validate/address-baseline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" y="6025896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66677"/>
                </a:solidFill>
              </a:rPr>
              <a:t>Scenario validation checks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01968" y="1243584"/>
            <a:ext cx="5285232" cy="2505456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48272" y="1298448"/>
            <a:ext cx="49926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667EEA"/>
                </a:solidFill>
              </a:rPr>
              <a:t>TECH STACK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48272" y="179222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Python 3.12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48272" y="2029967"/>
            <a:ext cx="50657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0AEF5"/>
                </a:solidFill>
              </a:rPr>
              <a:t>FastAPI + Pydantic v2 + SQLAlchemy 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48272" y="219456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LightGBM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48272" y="2432304"/>
            <a:ext cx="50657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0AEF5"/>
                </a:solidFill>
              </a:rPr>
              <a:t>645 estimators, Huber objective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48272" y="259689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48272" y="2834639"/>
            <a:ext cx="50657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0AEF5"/>
                </a:solidFill>
              </a:rPr>
              <a:t>Production DB  ·  SQLite for dev/test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48272" y="299923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Alembic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48272" y="3236976"/>
            <a:ext cx="50657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0AEF5"/>
                </a:solidFill>
              </a:rPr>
              <a:t>7 versioned schema migrations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48272" y="340156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Render.com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48272" y="3639311"/>
            <a:ext cx="50657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0AEF5"/>
                </a:solidFill>
              </a:rPr>
              <a:t>Cloud deployment target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01968" y="3877056"/>
            <a:ext cx="5285232" cy="2761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748272" y="3931920"/>
            <a:ext cx="49926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4E"/>
                </a:solidFill>
              </a:rPr>
              <a:t>OBSERVABILITY LAYER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48272" y="4352544"/>
            <a:ext cx="22494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82838"/>
                </a:solidFill>
              </a:rPr>
              <a:t>Workflow Events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34272" y="4352544"/>
            <a:ext cx="2798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66677"/>
                </a:solidFill>
              </a:rPr>
              <a:t>Every lifecycle stage persisted (DB + paginated API)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48272" y="4718304"/>
            <a:ext cx="22494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82838"/>
                </a:solidFill>
              </a:rPr>
              <a:t>Prediction Reuse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34272" y="4718304"/>
            <a:ext cx="2798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66677"/>
                </a:solidFill>
              </a:rPr>
              <a:t>Cache + policy-aware invalidation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48272" y="5084064"/>
            <a:ext cx="22494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82838"/>
                </a:solidFill>
              </a:rPr>
              <a:t>Feature Policy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34272" y="5084064"/>
            <a:ext cx="2798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66677"/>
                </a:solidFill>
              </a:rPr>
              <a:t>Per-request policy + governance metadata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48272" y="5449824"/>
            <a:ext cx="22494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82838"/>
                </a:solidFill>
              </a:rPr>
              <a:t>Audit Trace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34272" y="5449824"/>
            <a:ext cx="2798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66677"/>
                </a:solidFill>
              </a:rPr>
              <a:t>Full lineage: geocode → enrich → predict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48272" y="5815583"/>
            <a:ext cx="22494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82838"/>
                </a:solidFill>
              </a:rPr>
              <a:t>Health Endpoint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34272" y="5815583"/>
            <a:ext cx="2798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66677"/>
                </a:solidFill>
              </a:rPr>
              <a:t>Model version, DB state, provider availability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48272" y="6181344"/>
            <a:ext cx="22494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82838"/>
                </a:solidFill>
              </a:rPr>
              <a:t>Feature Overrides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34272" y="6181344"/>
            <a:ext cx="2798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66677"/>
                </a:solidFill>
              </a:rPr>
              <a:t>Per-request inject + bypass-reuse flag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F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Live Dashboard &amp; 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76656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0AEF5"/>
                </a:solidFill>
              </a:rPr>
              <a:t>Streamlit front-end, publicly deployed on Render.com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43584"/>
            <a:ext cx="5559552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16736"/>
            <a:ext cx="5285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4E"/>
                </a:solidFill>
              </a:rPr>
              <a:t>Dashboard Features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" y="1892807"/>
            <a:ext cx="137160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1051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82838"/>
                </a:solidFill>
              </a:rPr>
              <a:t>Address-to-Price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66543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77"/>
                </a:solidFill>
              </a:rPr>
              <a:t>Enter any US address — get instant ML prediction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" y="2450591"/>
            <a:ext cx="137160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6829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82838"/>
                </a:solidFill>
              </a:rPr>
              <a:t>Feature Breakdown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24327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77"/>
                </a:solidFill>
              </a:rPr>
              <a:t>All 16 model inputs with values &amp; importance bars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" y="3008375"/>
            <a:ext cx="137160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26079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82838"/>
                </a:solidFill>
              </a:rPr>
              <a:t>Market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1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77"/>
                </a:solidFill>
              </a:rPr>
              <a:t>Census ACS5 &amp; neighbourhood score overlays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" y="3566160"/>
            <a:ext cx="137160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48386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82838"/>
                </a:solidFill>
              </a:rPr>
              <a:t>Price Distribution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739896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77"/>
                </a:solidFill>
              </a:rPr>
              <a:t>Interactive Plotly histograms &amp; scatter charts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624" y="4123944"/>
            <a:ext cx="137160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04164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82838"/>
                </a:solidFill>
              </a:rPr>
              <a:t>Policy Simulation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9768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77"/>
                </a:solidFill>
              </a:rPr>
              <a:t>Compare balanced vs quality-first vs land-first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0624" y="4681728"/>
            <a:ext cx="137160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599431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82838"/>
                </a:solidFill>
              </a:rPr>
              <a:t>Prediction History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855464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77"/>
                </a:solidFill>
              </a:rPr>
              <a:t>Browse recent requests with workflow audit traces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" y="5239512"/>
            <a:ext cx="137160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15721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82838"/>
                </a:solidFill>
              </a:rPr>
              <a:t>Health Monitor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41324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77"/>
                </a:solidFill>
              </a:rPr>
              <a:t>Live provider status, model version, DB health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0624" y="5797296"/>
            <a:ext cx="137160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714999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82838"/>
                </a:solidFill>
              </a:rPr>
              <a:t>Workflow Events Feed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971031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77"/>
                </a:solidFill>
              </a:rPr>
              <a:t>Real-time lifecycle event log per prediction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99632" y="1243584"/>
            <a:ext cx="5687568" cy="539496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45936" y="129844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667EEA"/>
                </a:solidFill>
              </a:rPr>
              <a:t>DASHBOARD PREVIEW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91072" y="1737360"/>
            <a:ext cx="5486400" cy="658368"/>
          </a:xfrm>
          <a:prstGeom prst="rect">
            <a:avLst/>
          </a:prstGeom>
          <a:solidFill>
            <a:srgbClr val="22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1810512"/>
            <a:ext cx="52852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67EEA"/>
                </a:solidFill>
              </a:rPr>
              <a:t>Enter Address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2066543"/>
            <a:ext cx="5285232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123 Main St, Seattle WA 98101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91072" y="2505456"/>
            <a:ext cx="2633472" cy="1005840"/>
          </a:xfrm>
          <a:prstGeom prst="rect">
            <a:avLst/>
          </a:prstGeom>
          <a:solidFill>
            <a:srgbClr val="1C5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2578608"/>
            <a:ext cx="24323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67EEA"/>
                </a:solidFill>
              </a:rPr>
              <a:t>Predicted Price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2834640"/>
            <a:ext cx="243230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$524,000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3255264"/>
            <a:ext cx="243230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0AEF5"/>
                </a:solidFill>
              </a:rPr>
              <a:t>↑ +2.3% vs median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34272" y="2505456"/>
            <a:ext cx="2743200" cy="1005840"/>
          </a:xfrm>
          <a:prstGeom prst="rect">
            <a:avLst/>
          </a:prstGeom>
          <a:solidFill>
            <a:srgbClr val="1A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578608"/>
            <a:ext cx="25420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67EEA"/>
                </a:solidFill>
              </a:rPr>
              <a:t>Confidence Band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2834640"/>
            <a:ext cx="25420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$482k – $566k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255264"/>
            <a:ext cx="2542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0AEF5"/>
                </a:solidFill>
              </a:rPr>
              <a:t>R² = 0.9266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91072" y="3621024"/>
            <a:ext cx="5486400" cy="1133856"/>
          </a:xfrm>
          <a:prstGeom prst="rect">
            <a:avLst/>
          </a:prstGeom>
          <a:solidFill>
            <a:srgbClr val="22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3675887"/>
            <a:ext cx="52669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67EEA"/>
                </a:solidFill>
              </a:rPr>
              <a:t>Feature Importance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3931920"/>
            <a:ext cx="526694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GrLivArea     ████████  14.1%
MedianIncome  ███████  10.8%
SchoolRating  ██████   8.8%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91072" y="4846320"/>
            <a:ext cx="5486400" cy="548640"/>
          </a:xfrm>
          <a:prstGeom prst="rect">
            <a:avLst/>
          </a:prstGeom>
          <a:solidFill>
            <a:srgbClr val="22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0" y="4919472"/>
            <a:ext cx="52852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67EEA"/>
                </a:solidFill>
              </a:rPr>
              <a:t>Active Policy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175504"/>
            <a:ext cx="5285232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balanced-v1  ·  NeighbourhoodScore: 72 / 100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0" y="6437376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7EEA"/>
                </a:solidFill>
              </a:rPr>
              <a:t>Live: house-price-prediction-1-vrwx.onrender.com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F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Model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76656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0AEF5"/>
                </a:solidFill>
              </a:rPr>
              <a:t>Performance metrics across development iterations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43584"/>
            <a:ext cx="2816352" cy="1499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43584"/>
            <a:ext cx="2816352" cy="82296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" y="137160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4E"/>
                </a:solidFill>
              </a:rPr>
              <a:t>R² 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" y="1719072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 i="0">
                <a:solidFill>
                  <a:srgbClr val="667EEA"/>
                </a:solidFill>
              </a:rPr>
              <a:t>0.9266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" y="230428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282838"/>
                </a:solidFill>
              </a:rPr>
              <a:t>92.66% variance explained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64408" y="1243584"/>
            <a:ext cx="2816352" cy="1499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64408" y="1243584"/>
            <a:ext cx="2816352" cy="82296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92424" y="137160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4E"/>
                </a:solidFill>
              </a:rPr>
              <a:t>MAE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2424" y="1719072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 i="0">
                <a:solidFill>
                  <a:srgbClr val="667EEA"/>
                </a:solidFill>
              </a:rPr>
              <a:t>$16,574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2424" y="230428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282838"/>
                </a:solidFill>
              </a:rPr>
              <a:t>Mean absolute error (test set)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08776" y="1243584"/>
            <a:ext cx="2816352" cy="1499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8776" y="1243584"/>
            <a:ext cx="2816352" cy="82296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37160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4E"/>
                </a:solidFill>
              </a:rPr>
              <a:t>RMSE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6792" y="1719072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 i="0">
                <a:solidFill>
                  <a:srgbClr val="667EEA"/>
                </a:solidFill>
              </a:rPr>
              <a:t>$20,904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6792" y="230428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282838"/>
                </a:solidFill>
              </a:rPr>
              <a:t>Root mean squared error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53144" y="1243584"/>
            <a:ext cx="2816352" cy="1499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53144" y="1243584"/>
            <a:ext cx="2816352" cy="82296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137160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4E"/>
                </a:solidFill>
              </a:rPr>
              <a:t>Gap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1719072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 i="0">
                <a:solidFill>
                  <a:srgbClr val="667EEA"/>
                </a:solidFill>
              </a:rPr>
              <a:t>7.28%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230428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282838"/>
                </a:solidFill>
              </a:rPr>
              <a:t>Train/test — great generalisation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2944368"/>
            <a:ext cx="11539728" cy="367588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01752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4E"/>
                </a:solidFill>
              </a:rPr>
              <a:t>Training Iterations — Performance Evolution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" y="3438144"/>
            <a:ext cx="11521440" cy="36576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8" y="34747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Version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9344" y="347472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Key Change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3474720"/>
            <a:ext cx="9692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MAE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474720"/>
            <a:ext cx="9326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RMSE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70064" y="3474720"/>
            <a:ext cx="8595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6175" y="3474720"/>
            <a:ext cx="3493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Notes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72" y="3840480"/>
            <a:ext cx="1152144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4048" y="3941064"/>
            <a:ext cx="1188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82838"/>
                </a:solidFill>
              </a:rPr>
              <a:t>v1 — May 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9344" y="3941064"/>
            <a:ext cx="374903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82838"/>
                </a:solidFill>
              </a:rPr>
              <a:t>22k rows (KC+Ames), 20 features, Random Forest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94960" y="3941064"/>
            <a:ext cx="9692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82838"/>
                </a:solidFill>
              </a:rPr>
              <a:t>$72k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3941064"/>
            <a:ext cx="9326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82838"/>
                </a:solidFill>
              </a:rPr>
              <a:t>$157k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70064" y="3941064"/>
            <a:ext cx="8595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82838"/>
                </a:solidFill>
              </a:rPr>
              <a:t>0.840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6175" y="3941064"/>
            <a:ext cx="34930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82838"/>
                </a:solidFill>
              </a:rPr>
              <a:t>First production model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7472" y="4517136"/>
            <a:ext cx="11521440" cy="621792"/>
          </a:xfrm>
          <a:prstGeom prst="rect">
            <a:avLst/>
          </a:prstGeom>
          <a:solidFill>
            <a:srgbClr val="EF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4048" y="4617720"/>
            <a:ext cx="1188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82838"/>
                </a:solidFill>
              </a:rPr>
              <a:t>v2 — May 6a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09344" y="4617720"/>
            <a:ext cx="374903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82838"/>
                </a:solidFill>
              </a:rPr>
              <a:t>Added Waterfront, BasementSF, ViewScore (22 feats)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94960" y="4617720"/>
            <a:ext cx="9692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82838"/>
                </a:solidFill>
              </a:rPr>
              <a:t>$67k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4617720"/>
            <a:ext cx="9326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82838"/>
                </a:solidFill>
              </a:rPr>
              <a:t>$131k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70064" y="4617720"/>
            <a:ext cx="8595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82838"/>
                </a:solidFill>
              </a:rPr>
              <a:t>0.875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66175" y="4617720"/>
            <a:ext cx="34930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82838"/>
                </a:solidFill>
              </a:rPr>
              <a:t>Feature expansion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72" y="5193792"/>
            <a:ext cx="1152144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4048" y="5294376"/>
            <a:ext cx="1188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82838"/>
                </a:solidFill>
              </a:rPr>
              <a:t>v3 — May 6b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09344" y="5294376"/>
            <a:ext cx="374903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82838"/>
                </a:solidFill>
              </a:rPr>
              <a:t>Interaction features, Huber, early stopping (LGB)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94960" y="5294376"/>
            <a:ext cx="9692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82838"/>
                </a:solidFill>
              </a:rPr>
              <a:t>$62k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5294376"/>
            <a:ext cx="9326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82838"/>
                </a:solidFill>
              </a:rPr>
              <a:t>$97k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70064" y="5294376"/>
            <a:ext cx="8595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82838"/>
                </a:solidFill>
              </a:rPr>
              <a:t>0.879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66175" y="5294376"/>
            <a:ext cx="34930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82838"/>
                </a:solidFill>
              </a:rPr>
              <a:t>RMSE dropped 26%!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47472" y="5870448"/>
            <a:ext cx="11521440" cy="621792"/>
          </a:xfrm>
          <a:prstGeom prst="rect">
            <a:avLst/>
          </a:prstGeom>
          <a:solidFill>
            <a:srgbClr val="DFF5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84048" y="5971032"/>
            <a:ext cx="1188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7AE60"/>
                </a:solidFill>
              </a:rPr>
              <a:t>v4 — CSV 16f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9344" y="5971032"/>
            <a:ext cx="374903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7AE60"/>
                </a:solidFill>
              </a:rPr>
              <a:t>Optimised 16-feature offline (Ames + KC)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94960" y="5971032"/>
            <a:ext cx="9692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7AE60"/>
                </a:solidFill>
              </a:rPr>
              <a:t>$16.6k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0" y="5971032"/>
            <a:ext cx="9326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7AE60"/>
                </a:solidFill>
              </a:rPr>
              <a:t>$20.9k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70064" y="5971032"/>
            <a:ext cx="8595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7AE60"/>
                </a:solidFill>
              </a:rPr>
              <a:t>0.9266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66175" y="5971032"/>
            <a:ext cx="34930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7AE60"/>
                </a:solidFill>
              </a:rPr>
              <a:t>Best accuracy achieved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F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Challenges &amp;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76656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0AEF5"/>
                </a:solidFill>
              </a:rPr>
              <a:t>What we really learned building for national scale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11539728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182880" cy="969264"/>
          </a:xfrm>
          <a:prstGeom prst="rect">
            <a:avLst/>
          </a:prstGeom>
          <a:solidFill>
            <a:srgbClr val="BD3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316736"/>
            <a:ext cx="5577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4E"/>
                </a:solidFill>
              </a:rPr>
              <a:t>National Generalisation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664207"/>
            <a:ext cx="5577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D3528"/>
                </a:solidFill>
              </a:rPr>
              <a:t>Problem: KC 'Neighborhood' OHE (74 columns) = zero signal for non-KC addresses — silent failure mode.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65392" y="1316736"/>
            <a:ext cx="5230368" cy="822960"/>
          </a:xfrm>
          <a:prstGeom prst="rect">
            <a:avLst/>
          </a:prstGeom>
          <a:solidFill>
            <a:srgbClr val="EBF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316736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</a:rPr>
              <a:t>Solution: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572768"/>
            <a:ext cx="50474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82838"/>
                </a:solidFill>
              </a:rPr>
              <a:t>Removed OHE. Replaced with Census ACS5 live API + KNN scorer seeded on 30,379 ZCTA centroids.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340863"/>
            <a:ext cx="11539728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" y="2340863"/>
            <a:ext cx="182880" cy="969264"/>
          </a:xfrm>
          <a:prstGeom prst="rect">
            <a:avLst/>
          </a:prstGeom>
          <a:solidFill>
            <a:srgbClr val="D47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2395727"/>
            <a:ext cx="5577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4E"/>
                </a:solidFill>
              </a:rPr>
              <a:t>API Latency &amp; Failures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2743199"/>
            <a:ext cx="5577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D3528"/>
                </a:solidFill>
              </a:rPr>
              <a:t>Problem: Census geocoder + ACS5 take 3-8 s. Nominatim returns no-match on partial addresses.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65392" y="2395727"/>
            <a:ext cx="5230368" cy="822960"/>
          </a:xfrm>
          <a:prstGeom prst="rect">
            <a:avLst/>
          </a:prstGeom>
          <a:solidFill>
            <a:srgbClr val="EBF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2395727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</a:rPr>
              <a:t>Solution: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651759"/>
            <a:ext cx="50474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82838"/>
                </a:solidFill>
              </a:rPr>
              <a:t>Raised timeout to 8 s. NonRetryableProviderError short-circuits retry budget. City/state fallback added.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419856"/>
            <a:ext cx="11539728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3419856"/>
            <a:ext cx="182880" cy="9692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3474720"/>
            <a:ext cx="5577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4E"/>
                </a:solidFill>
              </a:rPr>
              <a:t>Prediction Consistency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3822191"/>
            <a:ext cx="5577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D3528"/>
                </a:solidFill>
              </a:rPr>
              <a:t>Problem: Create and detail endpoints returned different prices — rounding applied after DB persistence.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65392" y="3474720"/>
            <a:ext cx="5230368" cy="822960"/>
          </a:xfrm>
          <a:prstGeom prst="rect">
            <a:avLst/>
          </a:prstGeom>
          <a:solidFill>
            <a:srgbClr val="EBF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34747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</a:rPr>
              <a:t>Solution: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730752"/>
            <a:ext cx="50474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82838"/>
                </a:solidFill>
              </a:rPr>
              <a:t>Round price before persistence. Regression test asserts create and detail prices always match.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4498848"/>
            <a:ext cx="11539728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" y="4498848"/>
            <a:ext cx="182880" cy="969264"/>
          </a:xfrm>
          <a:prstGeom prst="rect">
            <a:avLst/>
          </a:prstGeom>
          <a:solidFill>
            <a:srgbClr val="0E8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4553712"/>
            <a:ext cx="5577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4E"/>
                </a:solidFill>
              </a:rPr>
              <a:t>Overfitting Signal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4901184"/>
            <a:ext cx="5577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D3528"/>
                </a:solidFill>
              </a:rPr>
              <a:t>Problem: 17-feature model degraded test R² by 0.0008 adding RenterOccupied — textbook overfitting.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65392" y="4553712"/>
            <a:ext cx="5230368" cy="822960"/>
          </a:xfrm>
          <a:prstGeom prst="rect">
            <a:avLst/>
          </a:prstGeom>
          <a:solidFill>
            <a:srgbClr val="EBF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5120" y="455371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</a:rPr>
              <a:t>Solution: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4809744"/>
            <a:ext cx="50474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82838"/>
                </a:solidFill>
              </a:rPr>
              <a:t>Kept 16-feature model. LightGBM early stopping found 645 optimal estimators (was hand-tuned 1500).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5577840"/>
            <a:ext cx="11539728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5577840"/>
            <a:ext cx="182880" cy="969264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" y="5632703"/>
            <a:ext cx="5577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4E"/>
                </a:solidFill>
              </a:rPr>
              <a:t>Schema Drift to Production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" y="5980176"/>
            <a:ext cx="5577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D3528"/>
                </a:solidFill>
              </a:rPr>
              <a:t>Problem: DB auto-create at runtime diverged from Alembic migration state, causing 500 errors in production.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65392" y="5632703"/>
            <a:ext cx="5230368" cy="822960"/>
          </a:xfrm>
          <a:prstGeom prst="rect">
            <a:avLst/>
          </a:prstGeom>
          <a:solidFill>
            <a:srgbClr val="EBF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0" y="5632703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</a:rPr>
              <a:t>Solution: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5888736"/>
            <a:ext cx="50474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82838"/>
                </a:solidFill>
              </a:rPr>
              <a:t>Migration-first startup (create_schema=False default). Auto-create restricted to test env only.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F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Testing &amp;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76656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0AEF5"/>
                </a:solidFill>
              </a:rPr>
              <a:t>92 automated tests — from unit through end-to-end smoke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43584"/>
            <a:ext cx="5596128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16736"/>
            <a:ext cx="53218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4E"/>
                </a:solidFill>
              </a:rPr>
              <a:t>Test Coverage Areas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" y="1901952"/>
            <a:ext cx="137160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1051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82838"/>
                </a:solidFill>
              </a:rPr>
              <a:t>API Contract 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66543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66677"/>
                </a:solidFill>
              </a:rPr>
              <a:t>POST predict, GET list/detail, 404, 422 validation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" y="2450592"/>
            <a:ext cx="137160" cy="274320"/>
          </a:xfrm>
          <a:prstGeom prst="rect">
            <a:avLst/>
          </a:prstGeom>
          <a:solidFill>
            <a:srgbClr val="0E8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5915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82838"/>
                </a:solidFill>
              </a:rPr>
              <a:t>Feature Policy 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15184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66677"/>
                </a:solidFill>
              </a:rPr>
              <a:t>Weighted scoring, policy bias, unknown-policy 422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" y="2999232"/>
            <a:ext cx="137160" cy="274320"/>
          </a:xfrm>
          <a:prstGeom prst="rect">
            <a:avLst/>
          </a:prstGeom>
          <a:solidFill>
            <a:srgbClr val="D47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0779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82838"/>
                </a:solidFill>
              </a:rPr>
              <a:t>Workflow Event Tests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63824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66677"/>
                </a:solidFill>
              </a:rPr>
              <a:t>Pagination, sort order, event name filtering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" y="3547872"/>
            <a:ext cx="137160" cy="274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45643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82838"/>
                </a:solidFill>
              </a:rPr>
              <a:t>Prediction Reuse 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712463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66677"/>
                </a:solidFill>
              </a:rPr>
              <a:t>Cache hit/miss, policy-boundary invalidation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624" y="4096511"/>
            <a:ext cx="137160" cy="27432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005071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82838"/>
                </a:solidFill>
              </a:rPr>
              <a:t>Smoke 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61103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66677"/>
                </a:solidFill>
              </a:rPr>
              <a:t>48-check production readiness (fake + live providers)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0624" y="4645152"/>
            <a:ext cx="137160" cy="274320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55371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82838"/>
                </a:solidFill>
              </a:rPr>
              <a:t>Regression Tests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809744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66677"/>
                </a:solidFill>
              </a:rPr>
              <a:t>Create/detail price consistency, rounding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" y="5193792"/>
            <a:ext cx="137160" cy="274320"/>
          </a:xfrm>
          <a:prstGeom prst="rect">
            <a:avLst/>
          </a:prstGeom>
          <a:solidFill>
            <a:srgbClr val="BD3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102351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82838"/>
                </a:solidFill>
              </a:rPr>
              <a:t>Feature Override Tests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3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66677"/>
                </a:solidFill>
              </a:rPr>
              <a:t>bypass_reuse flag, override keys in workflow events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0624" y="5742432"/>
            <a:ext cx="137160" cy="274320"/>
          </a:xfrm>
          <a:prstGeom prst="rect">
            <a:avLst/>
          </a:prstGeom>
          <a:solidFill>
            <a:srgbClr val="0E8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65099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82838"/>
                </a:solidFill>
              </a:rPr>
              <a:t>Schema Validation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907024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66677"/>
                </a:solidFill>
              </a:rPr>
              <a:t>Feature bounds, inverted bound rejection (422)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36208" y="1243584"/>
            <a:ext cx="5650992" cy="2487168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2512" y="1298448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667EEA"/>
                </a:solidFill>
              </a:rPr>
              <a:t>MILESTONES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1773936"/>
            <a:ext cx="5504688" cy="420624"/>
          </a:xfrm>
          <a:prstGeom prst="rect">
            <a:avLst/>
          </a:prstGeom>
          <a:solidFill>
            <a:srgbClr val="22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1847088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AEF5"/>
                </a:solidFill>
              </a:rPr>
              <a:t>Apr 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179222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61120" y="1847088"/>
            <a:ext cx="27614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0AEF5"/>
                </a:solidFill>
              </a:rPr>
              <a:t>Initial backend scaffold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2267712"/>
            <a:ext cx="5504688" cy="420624"/>
          </a:xfrm>
          <a:prstGeom prst="rect">
            <a:avLst/>
          </a:prstGeom>
          <a:solidFill>
            <a:srgbClr val="22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19088" y="2340864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AEF5"/>
                </a:solidFill>
              </a:rPr>
              <a:t>Apr 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0" y="228600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83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1120" y="2340864"/>
            <a:ext cx="27614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0AEF5"/>
                </a:solidFill>
              </a:rPr>
              <a:t>National scorer + orchestration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2761488"/>
            <a:ext cx="5504688" cy="420624"/>
          </a:xfrm>
          <a:prstGeom prst="rect">
            <a:avLst/>
          </a:prstGeom>
          <a:solidFill>
            <a:srgbClr val="22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19088" y="2834640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AEF5"/>
                </a:solidFill>
              </a:rPr>
              <a:t>Apr 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0" y="27797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20" y="2834640"/>
            <a:ext cx="27614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0AEF5"/>
                </a:solidFill>
              </a:rPr>
              <a:t>Policy engine + overrides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09360" y="3255264"/>
            <a:ext cx="5504688" cy="420624"/>
          </a:xfrm>
          <a:prstGeom prst="rect">
            <a:avLst/>
          </a:prstGeom>
          <a:solidFill>
            <a:srgbClr val="222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19088" y="3328416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AEF5"/>
                </a:solidFill>
              </a:rPr>
              <a:t>May  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89520" y="32735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92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61120" y="3328416"/>
            <a:ext cx="27614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0AEF5"/>
                </a:solidFill>
              </a:rPr>
              <a:t>Production readiness pass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36208" y="3858768"/>
            <a:ext cx="5650992" cy="2779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82512" y="3913632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4E"/>
                </a:solidFill>
              </a:rPr>
              <a:t>QUALITY PRACTICES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82512" y="4315968"/>
            <a:ext cx="5358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2838"/>
                </a:solidFill>
              </a:rPr>
              <a:t>• Pytest with SQLite in-memory DB for full test isolation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82512" y="4663440"/>
            <a:ext cx="5358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2838"/>
                </a:solidFill>
              </a:rPr>
              <a:t>• FakePropertyDataClient for deterministic test oracle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82512" y="5010912"/>
            <a:ext cx="5358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2838"/>
                </a:solidFill>
              </a:rPr>
              <a:t>• Smoke test: 48 checks across all production endpoints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82512" y="5358383"/>
            <a:ext cx="5358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2838"/>
                </a:solidFill>
              </a:rPr>
              <a:t>• Regression: create-vs-detail price consistency assertion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82512" y="5705856"/>
            <a:ext cx="5358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2838"/>
                </a:solidFill>
              </a:rPr>
              <a:t>• Training guardrail: TRAINING_MIN_ROWS prevents tiny models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82512" y="6053327"/>
            <a:ext cx="5358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2838"/>
                </a:solidFill>
              </a:rPr>
              <a:t>• Makefile one-command: test + lint + train pipeline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F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Key Learnings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76656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0AEF5"/>
                </a:solidFill>
              </a:rPr>
              <a:t>What we would tell our past selves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11539728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493776" cy="9692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463039"/>
            <a:ext cx="49377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1316736"/>
            <a:ext cx="6949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4E"/>
                </a:solidFill>
              </a:rPr>
              <a:t>Feature Generalisation Beats Local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1682495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2838"/>
                </a:solidFill>
              </a:rPr>
              <a:t>A Census ACS5-backed model generalising to all US addresses outperforms one fine-tuned for a single city. Remove local OHE columns early — they are silent zero-signal failure modes at national inference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331720"/>
            <a:ext cx="11539728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331720"/>
            <a:ext cx="493776" cy="969264"/>
          </a:xfrm>
          <a:prstGeom prst="rect">
            <a:avLst/>
          </a:prstGeom>
          <a:solidFill>
            <a:srgbClr val="0E8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532888"/>
            <a:ext cx="49377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2386584"/>
            <a:ext cx="6949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4E"/>
                </a:solidFill>
              </a:rPr>
              <a:t>Free Public APIs Are Production-Grade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2752344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2838"/>
                </a:solidFill>
              </a:rPr>
              <a:t>Nominatim, US Census ACS5, and FCC APIs are reliable, rate-limit tolerant, and sufficient for national coverage. No paid commercial geocoder was needed at our scale.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401568"/>
            <a:ext cx="11539728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401568"/>
            <a:ext cx="493776" cy="969264"/>
          </a:xfrm>
          <a:prstGeom prst="rect">
            <a:avLst/>
          </a:prstGeom>
          <a:solidFill>
            <a:srgbClr val="D47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602736"/>
            <a:ext cx="49377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3456432"/>
            <a:ext cx="6949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4E"/>
                </a:solidFill>
              </a:rPr>
              <a:t>Schema Discipline Saves Hours of Debugging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3822191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2838"/>
                </a:solidFill>
              </a:rPr>
              <a:t>Running Alembic migration-first from day one would have prevented the production 500-error incident. Always treat DB schema as code — never a runtime convenience.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471416"/>
            <a:ext cx="11539728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471416"/>
            <a:ext cx="493776" cy="9692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4672583"/>
            <a:ext cx="49377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" y="4526279"/>
            <a:ext cx="6949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4E"/>
                </a:solidFill>
              </a:rPr>
              <a:t>Interaction Features &amp; Outlier Capping Are High-ROI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" y="4892040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2838"/>
                </a:solidFill>
              </a:rPr>
              <a:t>QualArea (OverallQual × GrLivArea) + p99 price capping dropped RMSE by 26% in one pass — larger gain than adding an entire new data source.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5541264"/>
            <a:ext cx="11539728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5541264"/>
            <a:ext cx="493776" cy="969264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5742431"/>
            <a:ext cx="49377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" y="5596127"/>
            <a:ext cx="6949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4E"/>
                </a:solidFill>
              </a:rPr>
              <a:t>Observability Is a Feature, Not an Afterthought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" y="5961888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2838"/>
                </a:solidFill>
              </a:rPr>
              <a:t>Workflow events, audit traces, policy metadata, and the health endpoint transformed a black-box API into a debuggable, governable system — essential for a multi-developer group project.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630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88952" cy="14630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34640"/>
            <a:ext cx="1036015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A0AEF5"/>
                </a:solidFill>
              </a:rPr>
              <a:t>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0" y="3584448"/>
            <a:ext cx="7068312" cy="64008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67328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0AEF5"/>
                </a:solidFill>
              </a:rPr>
              <a:t>R² = 0.9266   ·   MAE = $16,574   ·   RMSE = $20,904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87952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0AEF5"/>
                </a:solidFill>
              </a:rPr>
              <a:t>22,098 training rows   ·   16 optimised features   ·   92 tests passing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608576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0AEF5"/>
                </a:solidFill>
              </a:rPr>
              <a:t>FastAPI  +  LightGBM  +  PostgreSQL  +  Streamlit  —  Deployed on Render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5285232"/>
            <a:ext cx="8897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667EEA"/>
                </a:solidFill>
              </a:rPr>
              <a:t>house-price-prediction-1-vrwx.onrender.com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