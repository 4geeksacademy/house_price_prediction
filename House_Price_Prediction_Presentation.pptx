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2944368"/>
            <a:ext cx="706831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4206240"/>
            <a:ext cx="706831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HOUSE PRICE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AEF5"/>
                </a:solidFill>
              </a:rPr>
              <a:t>End-to-End Machine Learning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AEF5"/>
                </a:solidFill>
              </a:rPr>
              <a:t>Data Engineering  ·  Feature Engineering  ·  ML Model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AEF5"/>
                </a:solidFill>
              </a:rPr>
              <a:t>FastAPI Backend  ·  PostgreSQL  ·  Live Streamlit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BB"/>
                </a:solidFill>
              </a:rPr>
              <a:t>Group Project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What we built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806440" cy="5358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54864" cy="1371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167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19072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2838"/>
                </a:solidFill>
              </a:rPr>
              <a:t>Predict US house prices for any address using a production-quality ML pipeline backed by real US government data APIs — fully free, fully generalisable nationally.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4864" cy="3703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6334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Project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30723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2838"/>
                </a:solidFill>
              </a:rPr>
              <a:t>  •  22,098 training rows — King County WA + Ames Iowa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493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2838"/>
                </a:solidFill>
              </a:rPr>
              <a:t>  •  16-feature optimised model (property + census + school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913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2838"/>
                </a:solidFill>
              </a:rPr>
              <a:t>  •  FastAPI REST backend with 8 Alembic database migrations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43342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2838"/>
                </a:solidFill>
              </a:rPr>
              <a:t>  •  Streamlit live dashboard with live API feature badges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2838"/>
                </a:solidFill>
              </a:rPr>
              <a:t>  •  30,379 national ZIP centroid neighbourhood scorer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51755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2838"/>
                </a:solidFill>
              </a:rPr>
              <a:t>  •  103 automated tests passing — 100% success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1261872"/>
            <a:ext cx="5413248" cy="535838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316736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7EEA"/>
                </a:solidFill>
              </a:rPr>
              <a:t>KEY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47104" y="1773936"/>
            <a:ext cx="2523744" cy="138988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8562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EF5"/>
                </a:solidFill>
              </a:rPr>
              <a:t>R²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3969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</a:rPr>
              <a:t>0.9266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83463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BB"/>
                </a:solidFill>
              </a:rPr>
              <a:t>92.66% test 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17152" y="1773936"/>
            <a:ext cx="2523744" cy="138988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8562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EF5"/>
                </a:solidFill>
              </a:rPr>
              <a:t>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13969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</a:rPr>
              <a:t>$16,574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83463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BB"/>
                </a:solidFill>
              </a:rPr>
              <a:t>Mean absolute error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47104" y="3346704"/>
            <a:ext cx="2523744" cy="138988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EF5"/>
                </a:solidFill>
              </a:rPr>
              <a:t>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124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</a:rPr>
              <a:t>$20,904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256" y="44074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BB"/>
                </a:solidFill>
              </a:rPr>
              <a:t>Root mean sq. error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17152" y="3346704"/>
            <a:ext cx="2523744" cy="138988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5168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EF5"/>
                </a:solidFill>
              </a:rPr>
              <a:t>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37124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44074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BB"/>
                </a:solidFill>
              </a:rPr>
              <a:t>Optimised model inputs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47104" y="4919472"/>
            <a:ext cx="2523744" cy="138988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EF5"/>
                </a:solidFill>
              </a:rPr>
              <a:t>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2852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</a:rPr>
              <a:t>103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256" y="59801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BB"/>
                </a:solidFill>
              </a:rPr>
              <a:t>All pass ✓ LOCKED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7152" y="4919472"/>
            <a:ext cx="2523744" cy="138988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8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EF5"/>
                </a:solidFill>
              </a:rPr>
              <a:t>ZCTAs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52852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</a:rPr>
              <a:t>30,379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59801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BB"/>
                </a:solidFill>
              </a:rPr>
              <a:t>National ZIP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&amp; 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Why house price prediction is hard — and how we solved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577840" cy="5358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Challenges We Addressed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856231"/>
            <a:ext cx="137160" cy="329184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Fragmented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4831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No single dataset covers all US markets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2514599"/>
            <a:ext cx="137160" cy="329184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688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Paid API lock-in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199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Most geocoding &amp; property APIs require paid keys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3172968"/>
            <a:ext cx="137160" cy="329184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Local overfitting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156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KC OHE 'Neighborhood' (74 cols) = zero signal nationally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3831336"/>
            <a:ext cx="137160" cy="329184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856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Neighbourhood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993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Hard to quantify local market context objectively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4489704"/>
            <a:ext cx="137160" cy="329184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4398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API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1830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Geocoders time-out; Census API has latency spikes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5148072"/>
            <a:ext cx="137160" cy="329184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0235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Schema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766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DB auto-create diverged from migration → 500 errors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1261872"/>
            <a:ext cx="5650992" cy="535838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1316736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7EEA"/>
                </a:solidFill>
              </a:rPr>
              <a:t>DATA SOURCES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1792224"/>
            <a:ext cx="544982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18653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King County WA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213969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21,598 rows — historic MLS sales 2014-2015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2578608"/>
            <a:ext cx="544982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2651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Ames, Iowa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292607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500 rows — academic benchmark dataset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3364991"/>
            <a:ext cx="544982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438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 Census ACS5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371246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Tract income, home value, occupancy 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4151376"/>
            <a:ext cx="544982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224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Nominatim OSM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44988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Free geocoding (address → lat/lon)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4937760"/>
            <a:ext cx="544982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5010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FCC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52852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Census tract lookup from coordinates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5724144"/>
            <a:ext cx="544982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5797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ZCTA centroids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60716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30,379 national ZIP centroids for KNN scorer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From raw address → 16 model-ready 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7818120" cy="5358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Feature Importance — Top 10  (87.5% cumulative)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GrLivArea — Above-ground living 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8144" y="1856231"/>
            <a:ext cx="3130997" cy="23774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0581" y="182880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14.1%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31136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LotArea — Total lot size (sq ft)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2295144"/>
            <a:ext cx="2403683" cy="23774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3267" y="226771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10.8%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70048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MedianIncome — Census ACS5 tract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8144" y="2734056"/>
            <a:ext cx="2397031" cy="237744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6615" y="2706624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10.8%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UnemploymentRate — Census ACS5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8144" y="3172968"/>
            <a:ext cx="2388161" cy="237744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7745" y="31455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10.8%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47872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SchoolDistrictRating — Derived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38144" y="3611879"/>
            <a:ext cx="1951329" cy="237744"/>
          </a:xfrm>
          <a:prstGeom prst="rect">
            <a:avLst/>
          </a:prstGeom>
          <a:solidFill>
            <a:srgbClr val="D47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0913" y="3584448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8.8%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86783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GarageArea — Garage square feet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38144" y="4050791"/>
            <a:ext cx="1944677" cy="23774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4261" y="4023359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8.8%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25696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YearBuilt — Construction year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38144" y="4489704"/>
            <a:ext cx="1496758" cy="23774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6342" y="446227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6.8%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64608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YearRemodAdd — Last renovation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38144" y="4928616"/>
            <a:ext cx="1474584" cy="23774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4168" y="4901184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6.7%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OverallQual — Build quality (1-10)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38144" y="5367528"/>
            <a:ext cx="1474584" cy="23774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04168" y="534009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6.7%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42432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TotRmsAbvGrd — Total rooms above grade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38144" y="5806440"/>
            <a:ext cx="727313" cy="23774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6897" y="5779008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2838"/>
                </a:solidFill>
              </a:rPr>
              <a:t>3.3%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0768" y="1261872"/>
            <a:ext cx="3456432" cy="2505456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8" y="1316736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7EEA"/>
                </a:solidFill>
              </a:rPr>
              <a:t>FEATURE CATEGORIES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85632" y="1773936"/>
            <a:ext cx="3328416" cy="10972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1920240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Property / Structural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2176272"/>
            <a:ext cx="33284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F5"/>
                </a:solidFill>
              </a:rPr>
              <a:t>13 feat  —  54.1% importance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85632" y="2432304"/>
            <a:ext cx="3328416" cy="109728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257860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Census Economic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2834640"/>
            <a:ext cx="33284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F5"/>
                </a:solidFill>
              </a:rPr>
              <a:t>2 feat   —  21.6% importance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85632" y="3090672"/>
            <a:ext cx="3328416" cy="109728"/>
          </a:xfrm>
          <a:prstGeom prst="rect">
            <a:avLst/>
          </a:prstGeom>
          <a:solidFill>
            <a:srgbClr val="D47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3236976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School District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3493008"/>
            <a:ext cx="33284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F5"/>
                </a:solidFill>
              </a:rPr>
              <a:t>1 feat   —   8.8% importance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30768" y="3858768"/>
            <a:ext cx="3456432" cy="2761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58784" y="3913632"/>
            <a:ext cx="3255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ENGINEERED FEATURES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58784" y="431596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Age = 2026 − YearBuilt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58784" y="468172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TotalSF = GrLivArea + BasementSF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58784" y="50474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TotalBath = FullBath + 0.5 × HalfBath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58784" y="541324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QualArea = OverallQual × GrLivArea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577900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log(LotArea) — reduces right skew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58784" y="614476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p99 price cap — removes ~216 outliers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Development &amp;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Systematic progression from baseline to production-ready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7333488" cy="5358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7059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Model Progression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792224"/>
            <a:ext cx="7278624" cy="3657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28800"/>
            <a:ext cx="1060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1828800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 Feats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82880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182880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28800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194560"/>
            <a:ext cx="7278624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359152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359152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Random Forest, 13 property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359152"/>
            <a:ext cx="7863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359152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0.917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2359152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$43k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359152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82838"/>
                </a:solidFill>
              </a:rPr>
              <a:t>Initial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999232"/>
            <a:ext cx="7278624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163824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Phase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163824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+ School District 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3163824"/>
            <a:ext cx="7863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3163824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0.920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3163824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$38k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3163824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Better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803904"/>
            <a:ext cx="7278624" cy="749808"/>
          </a:xfrm>
          <a:prstGeom prst="rect">
            <a:avLst/>
          </a:prstGeom>
          <a:solidFill>
            <a:srgbClr val="DF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968496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Phase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968496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+ Census MedianIncome + UnemployRate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3968496"/>
            <a:ext cx="7863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3968496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82838"/>
                </a:solidFill>
              </a:rPr>
              <a:t>0.9266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3968496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82838"/>
                </a:solidFill>
              </a:rPr>
              <a:t>$16.6k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3968496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A3A"/>
                </a:solidFill>
              </a:rPr>
              <a:t>OPTIMAL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608576"/>
            <a:ext cx="7278624" cy="749808"/>
          </a:xfrm>
          <a:prstGeom prst="rect">
            <a:avLst/>
          </a:prstGeom>
          <a:solidFill>
            <a:srgbClr val="FB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4773168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Phase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4773168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+ RenterOccupied (tested only)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4773168"/>
            <a:ext cx="7863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4773168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0.9258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9552" y="4773168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$17k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4773168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D3528"/>
                </a:solidFill>
              </a:rPr>
              <a:t>Overfit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5413248"/>
            <a:ext cx="7278624" cy="749808"/>
          </a:xfrm>
          <a:prstGeom prst="rect">
            <a:avLst/>
          </a:prstGeom>
          <a:solidFill>
            <a:srgbClr val="EB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5577840"/>
            <a:ext cx="10607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Production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5577840"/>
            <a:ext cx="23408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LightGBM 645-est Huber, 22 features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58768" y="5577840"/>
            <a:ext cx="7863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1728" y="5577840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0.879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59552" y="5577840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82838"/>
                </a:solidFill>
              </a:rPr>
              <a:t>$62k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7376" y="5577840"/>
            <a:ext cx="1170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886E"/>
                </a:solidFill>
              </a:rPr>
              <a:t>Live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73568" y="1261872"/>
            <a:ext cx="3913632" cy="2450592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19872" y="1316736"/>
            <a:ext cx="3621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67EEA"/>
                </a:solidFill>
              </a:rPr>
              <a:t>ALGORITHMS TRIED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9872" y="179222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9872" y="2048256"/>
            <a:ext cx="3621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Baseline — scale-invariant, interpretable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9872" y="22860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19872" y="2542032"/>
            <a:ext cx="3621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Production — gradient boost, fast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9872" y="277977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Ridge Regression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19872" y="3035808"/>
            <a:ext cx="3621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Linear benchmark for non-linearity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19872" y="32735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Ablation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9872" y="3529584"/>
            <a:ext cx="3621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Systematic importance &amp; overfit checks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73568" y="3840480"/>
            <a:ext cx="3913632" cy="2779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01583" y="389534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KEY DESIGN DECISIONS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01583" y="4315968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Removed KC 'Neighborhood' OHE (74 cols, zero national signal)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1583" y="4736592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p99 price cap removes ~216 ultra-luxury outliers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3" y="5157216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Early stopping: 645 optimal estimators (was 1500)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3" y="5577840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Huber objective (α=0.9) — robust to residual outliers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01583" y="5998464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• SimpleImputer preserves census slots for live retrain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Request-to-prediction pipeline with full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2651760"/>
            <a:ext cx="1828800" cy="9692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2715768"/>
            <a:ext cx="1664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Client
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12724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Address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2576" y="2432304"/>
            <a:ext cx="1920240" cy="1188720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4016" y="2496312"/>
            <a:ext cx="1755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Geocoding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2907792"/>
            <a:ext cx="1755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Nominatim + FCC
lat/lon + 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2432304"/>
            <a:ext cx="1993392" cy="1188720"/>
          </a:xfrm>
          <a:prstGeom prst="rect">
            <a:avLst/>
          </a:prstGeom>
          <a:solidFill>
            <a:srgbClr val="D47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496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
Assembly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9077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Census ACS5
+ KNN scorer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432304"/>
            <a:ext cx="1920240" cy="11887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496312"/>
            <a:ext cx="1755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ML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07792"/>
            <a:ext cx="1755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LightGBM
22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424" y="2651760"/>
            <a:ext cx="2834640" cy="9692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2715768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API
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3127248"/>
            <a:ext cx="2670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Price + audit
+ policy meta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281635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281635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1635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81635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58768"/>
            <a:ext cx="11539728" cy="87782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233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PostgreSQL / SQLite  ·  SQLAlchemy ORM  ·  7 Alembic Migrations  ·  Prediction Reuse Cache  ·  Workflow Events 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01184"/>
            <a:ext cx="5541264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956048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Feature Policy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5321808"/>
            <a:ext cx="5358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3 profiles: balanced-v1  ·  quality-first-v1  ·  land-first-v1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614416"/>
            <a:ext cx="5358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Per-request policy override  ·  State-targeted routing  ·  422 on unknown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907024"/>
            <a:ext cx="5358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Policy metadata surfaced in every prediction response + governance audit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4901184"/>
            <a:ext cx="5724144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956048"/>
            <a:ext cx="5541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Provider Resilience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5321808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Retry budget + NonRetryableProviderError short-circuit for fast 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614416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Default timeout 8 s  ·  Heuristic fallback when Census unavailable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5907024"/>
            <a:ext cx="5541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Nominatim city/state fallback on no-match results (was 502 error)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FastAPI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Production-grade REST API with observability built-in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43584"/>
            <a:ext cx="596188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5687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REST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801368"/>
            <a:ext cx="621792" cy="31089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82880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9222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/v1/predictions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7568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Predict price from address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2295144"/>
            <a:ext cx="621792" cy="310896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2322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860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946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List recent predictions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2788920"/>
            <a:ext cx="621792" cy="310896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281635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7977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/v1/predictions/{id}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063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Full detail + feature vector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3282696"/>
            <a:ext cx="621792" cy="310896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331012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7355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/v1/predictions/{id}/events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5701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Workflow audit trace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" y="3776472"/>
            <a:ext cx="621792" cy="310896"/>
          </a:xfrm>
          <a:prstGeom prst="rect">
            <a:avLst/>
          </a:prstGeom>
          <a:solidFill>
            <a:srgbClr val="D47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38039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673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050791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Live metrics snapshot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4270248"/>
            <a:ext cx="621792" cy="310896"/>
          </a:xfrm>
          <a:prstGeom prst="rect">
            <a:avLst/>
          </a:prstGeom>
          <a:solidFill>
            <a:srgbClr val="D47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" y="429768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26110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54456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Service + model health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" y="4764024"/>
            <a:ext cx="621792" cy="31089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479145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7548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/v1/policies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383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Feature policy catalog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" y="5257800"/>
            <a:ext cx="621792" cy="310896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528523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2486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/v1/policies/simulate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532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Compare policy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" y="5751576"/>
            <a:ext cx="621792" cy="310896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57790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74243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/v1/validate/address-baseline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602589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Scenario validation checks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01968" y="1243584"/>
            <a:ext cx="5285232" cy="2505456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1298448"/>
            <a:ext cx="4992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7EEA"/>
                </a:solidFill>
              </a:rPr>
              <a:t>TECH 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17922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2029967"/>
            <a:ext cx="5065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FastAPI + Pydantic v2 + SQLAlchemy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21945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2432304"/>
            <a:ext cx="5065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645 estimators, Huber objective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8272" y="25968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8272" y="2834639"/>
            <a:ext cx="5065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Production DB  ·  SQLite for dev/test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29992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Alembic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3236976"/>
            <a:ext cx="5065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7 versioned schema migrations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34015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Render.com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639311"/>
            <a:ext cx="5065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Cloud deployment target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01968" y="3877056"/>
            <a:ext cx="5285232" cy="2761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48272" y="3931920"/>
            <a:ext cx="4992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OBSERVABILITY LAYER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4352544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Workflow Events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34272" y="4352544"/>
            <a:ext cx="2798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Every lifecycle stage persisted (DB + paginated API)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8272" y="4718304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Prediction Reuse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34272" y="4718304"/>
            <a:ext cx="2798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Cache + policy-aware invalidation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8272" y="5084064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Feature Policy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34272" y="5084064"/>
            <a:ext cx="2798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Per-request policy + governance metadata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272" y="5449824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Audit Trace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34272" y="5449824"/>
            <a:ext cx="2798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Full lineage: geocode → enrich → predict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8272" y="5815583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Health Endpoint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34272" y="5815583"/>
            <a:ext cx="2798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Model version, DB state, provider availability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8272" y="6181344"/>
            <a:ext cx="2249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2838"/>
                </a:solidFill>
              </a:rPr>
              <a:t>Feature Overrides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4272" y="6181344"/>
            <a:ext cx="2798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Per-request inject + bypass-reuse flag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Live Dashboard &amp;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Streamlit front-end, publicly deployed on Render.com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43584"/>
            <a:ext cx="5559552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Dashboard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892807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Address-to-Price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Enter any US address — get instant ML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2450591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Feature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2432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All 16 model inputs with values &amp; importance bars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3008375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7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Market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Census ACS5 &amp; neighbourhood score overlays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3566160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838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Price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398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Interactive Plotly histograms &amp; scatter charts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4123944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41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Policy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Compare balanced vs quality-first vs land-first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4681728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994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Prediction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554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Browse recent requests with workflow audit traces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5239512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572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Health 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132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Live provider status, model version, DB health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" y="5797296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1499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Workflow Events Feed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7103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Real-time lifecycle event log per prediction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1243584"/>
            <a:ext cx="5687568" cy="5029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67EEA"/>
                </a:solidFill>
              </a:rPr>
              <a:t>DASHBOARD PREVIEW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1737360"/>
            <a:ext cx="5486400" cy="621792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810512"/>
            <a:ext cx="5285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7EEA"/>
                </a:solidFill>
              </a:rPr>
              <a:t>Enter Address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066543"/>
            <a:ext cx="5285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123 Main St, Seattle WA 98101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1072" y="2450592"/>
            <a:ext cx="2633472" cy="914400"/>
          </a:xfrm>
          <a:prstGeom prst="rect">
            <a:avLst/>
          </a:prstGeom>
          <a:solidFill>
            <a:srgbClr val="1C5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523744"/>
            <a:ext cx="24323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7EEA"/>
                </a:solidFill>
              </a:rPr>
              <a:t>Predicted Price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779776"/>
            <a:ext cx="24323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$524,000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108960"/>
            <a:ext cx="24323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↑ +2.3% vs median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34272" y="2450592"/>
            <a:ext cx="2743200" cy="914400"/>
          </a:xfrm>
          <a:prstGeom prst="rect">
            <a:avLst/>
          </a:prstGeom>
          <a:solidFill>
            <a:srgbClr val="1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52374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7EEA"/>
                </a:solidFill>
              </a:rPr>
              <a:t>Confidence Band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77977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$482k – $566k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08960"/>
            <a:ext cx="2542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R² = 0.9266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3456432"/>
            <a:ext cx="5486400" cy="1005840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511296"/>
            <a:ext cx="5266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7EEA"/>
                </a:solidFill>
              </a:rPr>
              <a:t>Feature Importance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749039"/>
            <a:ext cx="5266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GrLivArea     ████████  14.1%
MedianIncome  ███████  10.8%
SchoolRating  ██████   8.8%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1072" y="4572000"/>
            <a:ext cx="5486400" cy="548640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645152"/>
            <a:ext cx="5285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7EEA"/>
                </a:solidFill>
              </a:rPr>
              <a:t>Active Policy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901184"/>
            <a:ext cx="528523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balanced-v1  ·  NeighbourhoodScore: 72 / 100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6217920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7EEA"/>
                </a:solidFill>
              </a:rPr>
              <a:t>Live: house-price-prediction-1-vrwx.onrender.com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Performance metrics across development iterations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43584"/>
            <a:ext cx="2816352" cy="1499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43584"/>
            <a:ext cx="2816352" cy="8229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R²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7190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667EEA"/>
                </a:solidFill>
              </a:rPr>
              <a:t>0.9266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304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82838"/>
                </a:solidFill>
              </a:rPr>
              <a:t>92.66% variance explained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243584"/>
            <a:ext cx="2816352" cy="1499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243584"/>
            <a:ext cx="2816352" cy="8229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371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7190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667EEA"/>
                </a:solidFill>
              </a:rPr>
              <a:t>$16,574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2304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82838"/>
                </a:solidFill>
              </a:rPr>
              <a:t>Mean absolute error (test set)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243584"/>
            <a:ext cx="2816352" cy="1499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243584"/>
            <a:ext cx="2816352" cy="8229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371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RMSE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190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667EEA"/>
                </a:solidFill>
              </a:rPr>
              <a:t>$20,904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304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82838"/>
                </a:solidFill>
              </a:rPr>
              <a:t>Root mean squared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1243584"/>
            <a:ext cx="2816352" cy="1499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1243584"/>
            <a:ext cx="2816352" cy="8229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371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7190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667EEA"/>
                </a:solidFill>
              </a:rPr>
              <a:t>7.28%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304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82838"/>
                </a:solidFill>
              </a:rPr>
              <a:t>Train/test — great generalisation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944368"/>
            <a:ext cx="11539728" cy="3675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Training Iterations — Performance Evolution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438144"/>
            <a:ext cx="11521440" cy="3657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9344" y="3474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Key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474720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7472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3474720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3474720"/>
            <a:ext cx="3493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3840480"/>
            <a:ext cx="115214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3941064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v1 — May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3941064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22k rows (KC+Ames), 20 features, Random Forest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941064"/>
            <a:ext cx="9692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$72k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941064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$157k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0064" y="3941064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0.840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3941064"/>
            <a:ext cx="34930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First production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4517136"/>
            <a:ext cx="11521440" cy="621792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4617720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v2 — May 6a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9344" y="4617720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Added Waterfront, BasementSF, ViewScore (22 feats)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617720"/>
            <a:ext cx="9692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$67k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617720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$131k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0064" y="4617720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0.875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5" y="4617720"/>
            <a:ext cx="34930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Feature expansion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5193792"/>
            <a:ext cx="115214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5294376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v3 — May 6b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9344" y="5294376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Interaction features, Huber, early stopping (LGB)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5294376"/>
            <a:ext cx="9692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$62k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294376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$97k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70064" y="5294376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0.879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5" y="5294376"/>
            <a:ext cx="34930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8"/>
                </a:solidFill>
              </a:rPr>
              <a:t>RMSE dropped 26%!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" y="5870448"/>
            <a:ext cx="11521440" cy="621792"/>
          </a:xfrm>
          <a:prstGeom prst="rect">
            <a:avLst/>
          </a:prstGeom>
          <a:solidFill>
            <a:srgbClr val="DF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" y="597103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v4 — CSV 16f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9344" y="5971032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Optimised 16-feature offline (Ames + KC)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5971032"/>
            <a:ext cx="9692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$16.6k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971032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$20.9k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70064" y="5971032"/>
            <a:ext cx="859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0.9266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5" y="5971032"/>
            <a:ext cx="34930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Best accuracy achieved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What we really learned building for national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182880" cy="969264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1673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National Generalisation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64207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D3528"/>
                </a:solidFill>
              </a:rPr>
              <a:t>Problem: KC 'Neighborhood' OHE (74 columns) = zero signal for non-KC addresses — silent failure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65392" y="1316736"/>
            <a:ext cx="5230368" cy="822960"/>
          </a:xfrm>
          <a:prstGeom prst="rect">
            <a:avLst/>
          </a:prstGeom>
          <a:solidFill>
            <a:srgbClr val="EB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167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Solution: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7276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Removed OHE. Replaced with Census ACS5 live API + KNN scorer seeded on 30,379 ZCTA centroids.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40863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40863"/>
            <a:ext cx="182880" cy="969264"/>
          </a:xfrm>
          <a:prstGeom prst="rect">
            <a:avLst/>
          </a:prstGeom>
          <a:solidFill>
            <a:srgbClr val="D47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395727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API Latency &amp;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743199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D3528"/>
                </a:solidFill>
              </a:rPr>
              <a:t>Problem: Census geocoder + ACS5 take 3-8 s. Nominatim returns no-match on partial addresses.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5392" y="2395727"/>
            <a:ext cx="5230368" cy="822960"/>
          </a:xfrm>
          <a:prstGeom prst="rect">
            <a:avLst/>
          </a:prstGeom>
          <a:solidFill>
            <a:srgbClr val="EB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39572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Solution: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651759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Raised timeout to 8 s. NonRetryableProviderError short-circuits retry budget. City/state fallback added.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19856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419856"/>
            <a:ext cx="182880" cy="9692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47472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Prediction Consistency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822191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D3528"/>
                </a:solidFill>
              </a:rPr>
              <a:t>Problem: Create and detail endpoints returned different prices — rounding applied after DB persistence.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3474720"/>
            <a:ext cx="5230368" cy="822960"/>
          </a:xfrm>
          <a:prstGeom prst="rect">
            <a:avLst/>
          </a:prstGeom>
          <a:solidFill>
            <a:srgbClr val="EB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474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Solution: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730752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Round price before persistence. Regression test asserts create and detail prices always match.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498848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498848"/>
            <a:ext cx="182880" cy="969264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55371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Overfitting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901184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D3528"/>
                </a:solidFill>
              </a:rPr>
              <a:t>Problem: 17-feature model degraded test R² by 0.0008 adding RenterOccupied — textbook overfitting.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5392" y="4553712"/>
            <a:ext cx="5230368" cy="822960"/>
          </a:xfrm>
          <a:prstGeom prst="rect">
            <a:avLst/>
          </a:prstGeom>
          <a:solidFill>
            <a:srgbClr val="EB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5537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Solution: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809744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Kept 16-feature model. LightGBM early stopping found 645 optimal estimators (was hand-tuned 1500).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577840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577840"/>
            <a:ext cx="182880" cy="9692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5632703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Schema Drift to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980176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D3528"/>
                </a:solidFill>
              </a:rPr>
              <a:t>Problem: DB auto-create at runtime diverged from Alembic migration state, causing 500 errors in production.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65392" y="5632703"/>
            <a:ext cx="5230368" cy="822960"/>
          </a:xfrm>
          <a:prstGeom prst="rect">
            <a:avLst/>
          </a:prstGeom>
          <a:solidFill>
            <a:srgbClr val="EB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6327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Solution: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888736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82838"/>
                </a:solidFill>
              </a:rPr>
              <a:t>Migration-first startup (create_schema=False default). Auto-create restricted to test env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Testing &amp;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92 automated tests — from unit through end-to-end smoke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43584"/>
            <a:ext cx="55961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5321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Test Coverage Areas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901952"/>
            <a:ext cx="13716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API Contract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POST predict, GET list/detail, 404, 422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2450592"/>
            <a:ext cx="137160" cy="274320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Feature Policy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1518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Weighted scoring, policy bias, unknown-policy 422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2999232"/>
            <a:ext cx="137160" cy="274320"/>
          </a:xfrm>
          <a:prstGeom prst="rect">
            <a:avLst/>
          </a:prstGeom>
          <a:solidFill>
            <a:srgbClr val="D47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077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Workflow Event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6382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Pagination, sort order, event name filtering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3547872"/>
            <a:ext cx="13716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564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Prediction Reuse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1246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Cache hit/miss, policy-boundary invalidation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4096511"/>
            <a:ext cx="137160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Smoke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48-check production readiness (fake + live providers)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4645152"/>
            <a:ext cx="137160" cy="2743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537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Regression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974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Create/detail price consistency, rounding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5193792"/>
            <a:ext cx="137160" cy="274320"/>
          </a:xfrm>
          <a:prstGeom prst="rect">
            <a:avLst/>
          </a:prstGeom>
          <a:solidFill>
            <a:srgbClr val="BD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0235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Feature Override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3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bypass_reuse flag, override keys in workflow events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" y="5742432"/>
            <a:ext cx="137160" cy="274320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Schema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0702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77"/>
                </a:solidFill>
              </a:rPr>
              <a:t>Feature bounds, inverted bound rejection (422)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1243584"/>
            <a:ext cx="5650992" cy="248716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298448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7EEA"/>
                </a:solidFill>
              </a:rPr>
              <a:t>MILESTONES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773936"/>
            <a:ext cx="5504688" cy="420624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184708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F5"/>
                </a:solidFill>
              </a:rPr>
              <a:t>Apr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17922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1847088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Initial backend scaffold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267712"/>
            <a:ext cx="5504688" cy="420624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2340864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F5"/>
                </a:solidFill>
              </a:rPr>
              <a:t>Apr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2860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2340864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National scorer + orchestration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761488"/>
            <a:ext cx="5504688" cy="420624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088" y="2834640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F5"/>
                </a:solidFill>
              </a:rPr>
              <a:t>Apr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27797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2834640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Policy engine + overrides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255264"/>
            <a:ext cx="5504688" cy="420624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328416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F5"/>
                </a:solidFill>
              </a:rPr>
              <a:t>May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32735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3328416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F5"/>
                </a:solidFill>
              </a:rPr>
              <a:t>PRODUCTION LOCKED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6208" y="3858768"/>
            <a:ext cx="5650992" cy="2779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3913632"/>
            <a:ext cx="5358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QUALITY PRACTICES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4315968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• Pytest with SQLite in-memory DB for full test isolation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4663440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• FakePropertyDataClient for deterministic test oracle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2512" y="5010912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• Smoke test: 48 checks across all production endpoints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2512" y="5358383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• Regression: create-vs-detail price consistency assertion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2512" y="5705856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• Training guardrail: TRAINING_MIN_ROWS prevents tiny models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6053327"/>
            <a:ext cx="5358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• Makefile one-command: test + lint + train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Production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System locked and ready for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806440" cy="5358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Deployment Readiness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856231"/>
            <a:ext cx="219456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105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Code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84831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No syntax/lint errors — all critical files 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2578608"/>
            <a:ext cx="219456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51176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328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Test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0720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103/103 tests passing (100% success rate)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3300984"/>
            <a:ext cx="219456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73552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2552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Database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All 8 migrations applied (v20260417_000008)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4023360"/>
            <a:ext cx="219456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95928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9776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API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5196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Modern `/v1/*` endpoints fully validated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" y="4745736"/>
            <a:ext cx="219456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18304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7000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974336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Production-safe defaults enforced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5468112"/>
            <a:ext cx="219456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422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38"/>
                </a:solidFill>
              </a:rPr>
              <a:t>Models &amp;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69671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</a:rPr>
              <a:t>All files present and loaded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1261872"/>
            <a:ext cx="5413248" cy="535838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1316736"/>
            <a:ext cx="5413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67EEA"/>
                </a:solidFill>
              </a:rPr>
              <a:t>FINAL IMPROVEMENTS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47104" y="1792224"/>
            <a:ext cx="526694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18653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Modern API Routing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4" y="21396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Legacy `/v1/*` unmapped → modern orchestration active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7104" y="2514600"/>
            <a:ext cx="526694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9984" y="25877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UI Feature Badges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28620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Live provider data marked with source labels + styling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47104" y="3236976"/>
            <a:ext cx="526694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33101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Smart Calibration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9984" y="35844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All 50 states have valid multipliers; local evidence-based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47104" y="3959352"/>
            <a:ext cx="526694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9984" y="40325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Database Migrations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43068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8 revisions locked; workflow_events table + indices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47104" y="4681728"/>
            <a:ext cx="526694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9984" y="4754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Schema Drift Fixed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4" y="50292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Alembic migration-first prevents 500 errors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47104" y="5404104"/>
            <a:ext cx="5266944" cy="658368"/>
          </a:xfrm>
          <a:prstGeom prst="rect">
            <a:avLst/>
          </a:prstGeom>
          <a:solidFill>
            <a:srgbClr val="22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9984" y="54772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Prediction 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9984" y="57515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EF5"/>
                </a:solidFill>
              </a:rPr>
              <a:t>RentCast → Census → Nominatim → Heuristic fallback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EF5"/>
                </a:solidFill>
              </a:rPr>
              <a:t>What we would tell our past selves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493776" cy="9692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63039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316736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Feature Generalisation Beats Local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682495"/>
            <a:ext cx="10515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A Census ACS5-backed model generalising to all US addresses outperforms one fine-tuned for a single city. Remove local OHE columns early — they are silent zero-signal failure modes at national inference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31720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493776" cy="969264"/>
          </a:xfrm>
          <a:prstGeom prst="rect">
            <a:avLst/>
          </a:prstGeom>
          <a:solidFill>
            <a:srgbClr val="0E8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532888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386584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Free Public APIs Are Production-Grade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2752344"/>
            <a:ext cx="10515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Nominatim, US Census ACS5, and FCC APIs are reliable, rate-limit tolerant, and sufficient for national coverage. No paid commercial geocoder was needed at our scale.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01568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401568"/>
            <a:ext cx="493776" cy="969264"/>
          </a:xfrm>
          <a:prstGeom prst="rect">
            <a:avLst/>
          </a:prstGeom>
          <a:solidFill>
            <a:srgbClr val="D47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602736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456432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Schema Discipline Saves Hours of 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822191"/>
            <a:ext cx="10515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Running Alembic migration-first from day one would have prevented the production 500-error incident. Always treat DB schema as code — never a runtime convenience.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471416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471416"/>
            <a:ext cx="493776" cy="9692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672583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526279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Interaction Features &amp; Outlier Capping Are High-ROI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892040"/>
            <a:ext cx="10515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QualArea (OverallQual × GrLivArea) + p99 price capping dropped RMSE by 26% in one pass — larger gain than adding an entire new data source.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541264"/>
            <a:ext cx="11539728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541264"/>
            <a:ext cx="493776" cy="9692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742431"/>
            <a:ext cx="493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5596127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Observability Is a Feature, Not an Afterthought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5961888"/>
            <a:ext cx="10515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2838"/>
                </a:solidFill>
              </a:rPr>
              <a:t>Workflow events, audit traces, policy metadata, and the health endpoint transformed a black-box API into a debuggable, governable system — essential for a multi-developer group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01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0AEF5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584448"/>
            <a:ext cx="7068312" cy="64008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EF5"/>
                </a:solidFill>
              </a:rPr>
              <a:t>R² = 0.9266   ·   MAE = $16,574   ·   RMSE = $20,904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EF5"/>
                </a:solidFill>
              </a:rPr>
              <a:t>22,098 training rows   ·   16 optimised features   ·   103 tests passing (100% 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08576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EF5"/>
                </a:solidFill>
              </a:rPr>
              <a:t>Production-Ready: All Migrations Applied  ·  Modern API Active  ·  UI 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285232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7EEA"/>
                </a:solidFill>
              </a:rPr>
              <a:t>house-price-prediction-1-vrwx.onrender.com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